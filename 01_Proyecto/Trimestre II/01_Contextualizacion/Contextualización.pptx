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sldIdLst>
    <p:sldId id="256" r:id="rId3"/>
    <p:sldId id="257" r:id="rId5"/>
    <p:sldId id="258" r:id="rId6"/>
    <p:sldId id="259" r:id="rId7"/>
    <p:sldId id="260" r:id="rId8"/>
    <p:sldId id="262" r:id="rId9"/>
    <p:sldId id="263" r:id="rId10"/>
    <p:sldId id="264" r:id="rId11"/>
    <p:sldId id="265" r:id="rId12"/>
    <p:sldId id="266" r:id="rId13"/>
    <p:sldId id="267" r:id="rId14"/>
  </p:sldIdLst>
  <p:sldSz cx="12192000" cy="6858000"/>
  <p:notesSz cx="6858000" cy="9144000"/>
  <p:embeddedFontLst>
    <p:embeddedFont>
      <p:font typeface="Calibri" panose="020F0502020204030204"/>
      <p:regular r:id="rId18"/>
    </p:embeddedFont>
    <p:embeddedFont>
      <p:font typeface="Work Sans Light"/>
      <p:regular r:id="rId19"/>
      <p:bold r:id="rId20"/>
      <p:italic r:id="rId21"/>
      <p:boldItalic r:id="rId22"/>
    </p:embeddedFont>
    <p:embeddedFont>
      <p:font typeface="Work Sans Medium"/>
      <p:regular r:id="rId2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3" Type="http://schemas.openxmlformats.org/officeDocument/2006/relationships/font" Target="fonts/font6.fntdata"/><Relationship Id="rId22" Type="http://schemas.openxmlformats.org/officeDocument/2006/relationships/font" Target="fonts/font5.fntdata"/><Relationship Id="rId21" Type="http://schemas.openxmlformats.org/officeDocument/2006/relationships/font" Target="fonts/font4.fntdata"/><Relationship Id="rId20" Type="http://schemas.openxmlformats.org/officeDocument/2006/relationships/font" Target="fonts/font3.fntdata"/><Relationship Id="rId2" Type="http://schemas.openxmlformats.org/officeDocument/2006/relationships/theme" Target="theme/theme1.xml"/><Relationship Id="rId19" Type="http://schemas.openxmlformats.org/officeDocument/2006/relationships/font" Target="fonts/font2.fntdata"/><Relationship Id="rId18" Type="http://schemas.openxmlformats.org/officeDocument/2006/relationships/font" Target="fonts/font1.fntdata"/><Relationship Id="rId17" Type="http://schemas.openxmlformats.org/officeDocument/2006/relationships/tableStyles" Target="tableStyles.xml"/><Relationship Id="rId16" Type="http://schemas.openxmlformats.org/officeDocument/2006/relationships/viewProps" Target="viewProps.xml"/><Relationship Id="rId15" Type="http://schemas.openxmlformats.org/officeDocument/2006/relationships/presProps" Target="presProps.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2" name="Shape 2"/>
        <p:cNvGrpSpPr/>
        <p:nvPr/>
      </p:nvGrpSpPr>
      <p:grpSpPr>
        <a:xfrm>
          <a:off x="0" y="0"/>
          <a:ext cx="0" cy="0"/>
          <a:chOff x="0" y="0"/>
          <a:chExt cx="0" cy="0"/>
        </a:xfrm>
      </p:grpSpPr>
      <p:sp>
        <p:nvSpPr>
          <p:cNvPr id="3" name="Google Shape;3;n"/>
          <p:cNvSpPr txBox="1"/>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4" name="Google Shape;4;n"/>
          <p:cNvSpPr txBox="1"/>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5" name="Google Shape;5;n"/>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22860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7" name="Google Shape;7;n"/>
          <p:cNvSpPr txBox="1"/>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8" name="Google Shape;8;n"/>
          <p:cNvSpPr txBox="1"/>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s-MX" sz="1200" b="0" i="0" u="none" strike="noStrike" cap="none">
                <a:solidFill>
                  <a:schemeClr val="dk1"/>
                </a:solidFill>
                <a:latin typeface="Calibri" panose="020F0502020204030204"/>
                <a:ea typeface="Calibri" panose="020F0502020204030204"/>
                <a:cs typeface="Calibri" panose="020F0502020204030204"/>
                <a:sym typeface="Calibri" panose="020F0502020204030204"/>
              </a:rPr>
            </a:fld>
            <a:endParaRPr sz="1200" b="0" i="0" u="none" strike="noStrike" cap="none">
              <a:solidFill>
                <a:schemeClr val="dk1"/>
              </a:solidFill>
              <a:latin typeface="Calibri" panose="020F0502020204030204"/>
              <a:ea typeface="Calibri" panose="020F0502020204030204"/>
              <a:cs typeface="Calibri" panose="020F0502020204030204"/>
              <a:sym typeface="Calibri" panose="020F0502020204030204"/>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96" name="Shape 96"/>
        <p:cNvGrpSpPr/>
        <p:nvPr/>
      </p:nvGrpSpPr>
      <p:grpSpPr>
        <a:xfrm>
          <a:off x="0" y="0"/>
          <a:ext cx="0" cy="0"/>
          <a:chOff x="0" y="0"/>
          <a:chExt cx="0" cy="0"/>
        </a:xfrm>
      </p:grpSpPr>
      <p:sp>
        <p:nvSpPr>
          <p:cNvPr id="97" name="Google Shape;97;p1: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8" name="Google Shape;98;p1: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99" name="Google Shape;99;p1:notes"/>
          <p:cNvSpPr txBox="1"/>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s-MX"/>
            </a:fld>
            <a:endParaRPr lang="es-MX"/>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6" name="Shape 106"/>
        <p:cNvGrpSpPr/>
        <p:nvPr/>
      </p:nvGrpSpPr>
      <p:grpSpPr>
        <a:xfrm>
          <a:off x="0" y="0"/>
          <a:ext cx="0" cy="0"/>
          <a:chOff x="0" y="0"/>
          <a:chExt cx="0" cy="0"/>
        </a:xfrm>
      </p:grpSpPr>
      <p:sp>
        <p:nvSpPr>
          <p:cNvPr id="107" name="Google Shape;107;p2: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108" name="Google Shape;108;p2: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15" name="Shape 115"/>
        <p:cNvGrpSpPr/>
        <p:nvPr/>
      </p:nvGrpSpPr>
      <p:grpSpPr>
        <a:xfrm>
          <a:off x="0" y="0"/>
          <a:ext cx="0" cy="0"/>
          <a:chOff x="0" y="0"/>
          <a:chExt cx="0" cy="0"/>
        </a:xfrm>
      </p:grpSpPr>
      <p:sp>
        <p:nvSpPr>
          <p:cNvPr id="116" name="Google Shape;116;p3: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117" name="Google Shape;117;p3: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23" name="Shape 123"/>
        <p:cNvGrpSpPr/>
        <p:nvPr/>
      </p:nvGrpSpPr>
      <p:grpSpPr>
        <a:xfrm>
          <a:off x="0" y="0"/>
          <a:ext cx="0" cy="0"/>
          <a:chOff x="0" y="0"/>
          <a:chExt cx="0" cy="0"/>
        </a:xfrm>
      </p:grpSpPr>
      <p:sp>
        <p:nvSpPr>
          <p:cNvPr id="124" name="Google Shape;124;p4: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125" name="Google Shape;125;p4: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31" name="Shape 131"/>
        <p:cNvGrpSpPr/>
        <p:nvPr/>
      </p:nvGrpSpPr>
      <p:grpSpPr>
        <a:xfrm>
          <a:off x="0" y="0"/>
          <a:ext cx="0" cy="0"/>
          <a:chOff x="0" y="0"/>
          <a:chExt cx="0" cy="0"/>
        </a:xfrm>
      </p:grpSpPr>
      <p:sp>
        <p:nvSpPr>
          <p:cNvPr id="132" name="Google Shape;132;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133" name="Google Shape;133;p5: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0" name="Shape 150"/>
        <p:cNvGrpSpPr/>
        <p:nvPr/>
      </p:nvGrpSpPr>
      <p:grpSpPr>
        <a:xfrm>
          <a:off x="0" y="0"/>
          <a:ext cx="0" cy="0"/>
          <a:chOff x="0" y="0"/>
          <a:chExt cx="0" cy="0"/>
        </a:xfrm>
      </p:grpSpPr>
      <p:sp>
        <p:nvSpPr>
          <p:cNvPr id="151" name="Google Shape;151;p7: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152" name="Google Shape;152;p7: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61" name="Shape 161"/>
        <p:cNvGrpSpPr/>
        <p:nvPr/>
      </p:nvGrpSpPr>
      <p:grpSpPr>
        <a:xfrm>
          <a:off x="0" y="0"/>
          <a:ext cx="0" cy="0"/>
          <a:chOff x="0" y="0"/>
          <a:chExt cx="0" cy="0"/>
        </a:xfrm>
      </p:grpSpPr>
      <p:sp>
        <p:nvSpPr>
          <p:cNvPr id="162" name="Google Shape;162;p8: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163" name="Google Shape;163;p8: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70" name="Shape 170"/>
        <p:cNvGrpSpPr/>
        <p:nvPr/>
      </p:nvGrpSpPr>
      <p:grpSpPr>
        <a:xfrm>
          <a:off x="0" y="0"/>
          <a:ext cx="0" cy="0"/>
          <a:chOff x="0" y="0"/>
          <a:chExt cx="0" cy="0"/>
        </a:xfrm>
      </p:grpSpPr>
      <p:sp>
        <p:nvSpPr>
          <p:cNvPr id="171" name="Google Shape;171;p9: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172" name="Google Shape;172;p9: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78" name="Shape 178"/>
        <p:cNvGrpSpPr/>
        <p:nvPr/>
      </p:nvGrpSpPr>
      <p:grpSpPr>
        <a:xfrm>
          <a:off x="0" y="0"/>
          <a:ext cx="0" cy="0"/>
          <a:chOff x="0" y="0"/>
          <a:chExt cx="0" cy="0"/>
        </a:xfrm>
      </p:grpSpPr>
      <p:sp>
        <p:nvSpPr>
          <p:cNvPr id="179" name="Google Shape;179;p10: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180" name="Google Shape;180;p10: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86" name="Shape 186"/>
        <p:cNvGrpSpPr/>
        <p:nvPr/>
      </p:nvGrpSpPr>
      <p:grpSpPr>
        <a:xfrm>
          <a:off x="0" y="0"/>
          <a:ext cx="0" cy="0"/>
          <a:chOff x="0" y="0"/>
          <a:chExt cx="0" cy="0"/>
        </a:xfrm>
      </p:grpSpPr>
      <p:sp>
        <p:nvSpPr>
          <p:cNvPr id="187" name="Google Shape;187;p11: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8" name="Google Shape;188;p11: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189" name="Google Shape;189;p11:notes"/>
          <p:cNvSpPr txBox="1"/>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s-MX"/>
            </a:fld>
            <a:endParaRPr lang="es-MX"/>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218" name="Shape 218"/>
        <p:cNvGrpSpPr/>
        <p:nvPr/>
      </p:nvGrpSpPr>
      <p:grpSpPr>
        <a:xfrm>
          <a:off x="0" y="0"/>
          <a:ext cx="0" cy="0"/>
          <a:chOff x="0" y="0"/>
          <a:chExt cx="0" cy="0"/>
        </a:xfrm>
      </p:grpSpPr>
      <p:sp>
        <p:nvSpPr>
          <p:cNvPr id="219" name="Google Shape;219;p12: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220" name="Google Shape;220;p12:notes"/>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Diapositiva de título">
  <p:cSld name="1_Diapositiva de título">
    <p:spTree>
      <p:nvGrpSpPr>
        <p:cNvPr id="15" name="Shape 15"/>
        <p:cNvGrpSpPr/>
        <p:nvPr/>
      </p:nvGrpSpPr>
      <p:grpSpPr>
        <a:xfrm>
          <a:off x="0" y="0"/>
          <a:ext cx="0" cy="0"/>
          <a:chOff x="0" y="0"/>
          <a:chExt cx="0" cy="0"/>
        </a:xfrm>
      </p:grpSpPr>
      <p:pic>
        <p:nvPicPr>
          <p:cNvPr id="16" name="Google Shape;16;p2" descr="Interfaz de usuario gráfica, Texto, Aplicación&#10;&#10;Descripción generada automáticamente"/>
          <p:cNvPicPr preferRelativeResize="0"/>
          <p:nvPr/>
        </p:nvPicPr>
        <p:blipFill rotWithShape="1">
          <a:blip r:embed="rId2"/>
          <a:srcRect/>
          <a:stretch>
            <a:fillRect/>
          </a:stretch>
        </p:blipFill>
        <p:spPr>
          <a:xfrm>
            <a:off x="0" y="0"/>
            <a:ext cx="12192000" cy="68580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_Encabezado de sección">
  <p:cSld name="1_Encabezado de sección">
    <p:spTree>
      <p:nvGrpSpPr>
        <p:cNvPr id="17" name="Shape 17"/>
        <p:cNvGrpSpPr/>
        <p:nvPr/>
      </p:nvGrpSpPr>
      <p:grpSpPr>
        <a:xfrm>
          <a:off x="0" y="0"/>
          <a:ext cx="0" cy="0"/>
          <a:chOff x="0" y="0"/>
          <a:chExt cx="0" cy="0"/>
        </a:xfrm>
      </p:grpSpPr>
      <p:pic>
        <p:nvPicPr>
          <p:cNvPr id="18" name="Google Shape;18;p3"/>
          <p:cNvPicPr preferRelativeResize="0"/>
          <p:nvPr/>
        </p:nvPicPr>
        <p:blipFill rotWithShape="1">
          <a:blip r:embed="rId2"/>
          <a:srcRect/>
          <a:stretch>
            <a:fillRect/>
          </a:stretch>
        </p:blipFill>
        <p:spPr>
          <a:xfrm>
            <a:off x="11027833" y="317431"/>
            <a:ext cx="811391" cy="790587"/>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2_Encabezado de sección">
  <p:cSld name="2_Encabezado de sección">
    <p:spTree>
      <p:nvGrpSpPr>
        <p:cNvPr id="19" name="Shape 19"/>
        <p:cNvGrpSpPr/>
        <p:nvPr/>
      </p:nvGrpSpPr>
      <p:grpSpPr>
        <a:xfrm>
          <a:off x="0" y="0"/>
          <a:ext cx="0" cy="0"/>
          <a:chOff x="0" y="0"/>
          <a:chExt cx="0" cy="0"/>
        </a:xfrm>
      </p:grpSpPr>
      <p:pic>
        <p:nvPicPr>
          <p:cNvPr id="20" name="Google Shape;20;p4" descr="Patrón de fondo&#10;&#10;Descripción generada automáticamente"/>
          <p:cNvPicPr preferRelativeResize="0"/>
          <p:nvPr/>
        </p:nvPicPr>
        <p:blipFill rotWithShape="1">
          <a:blip r:embed="rId2"/>
          <a:srcRect/>
          <a:stretch>
            <a:fillRect/>
          </a:stretch>
        </p:blipFill>
        <p:spPr>
          <a:xfrm>
            <a:off x="0" y="0"/>
            <a:ext cx="12192000" cy="6858000"/>
          </a:xfrm>
          <a:prstGeom prst="rect">
            <a:avLst/>
          </a:prstGeom>
          <a:noFill/>
          <a:ln>
            <a:noFill/>
          </a:ln>
        </p:spPr>
      </p:pic>
      <p:pic>
        <p:nvPicPr>
          <p:cNvPr id="21" name="Google Shape;21;p4"/>
          <p:cNvPicPr preferRelativeResize="0"/>
          <p:nvPr/>
        </p:nvPicPr>
        <p:blipFill rotWithShape="1">
          <a:blip r:embed="rId3"/>
          <a:srcRect/>
          <a:stretch>
            <a:fillRect/>
          </a:stretch>
        </p:blipFill>
        <p:spPr>
          <a:xfrm>
            <a:off x="11054859" y="303050"/>
            <a:ext cx="855785" cy="83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iseño personalizado">
  <p:cSld name="Diseño personalizado">
    <p:bg>
      <p:bgPr>
        <a:blipFill>
          <a:blip r:embed="rId2"/>
          <a:stretch>
            <a:fillRect/>
          </a:stretch>
        </a:blipFill>
        <a:effectLst/>
      </p:bgPr>
    </p:bg>
    <p:spTree>
      <p:nvGrpSpPr>
        <p:cNvPr id="22" name="Shape 22"/>
        <p:cNvGrpSpPr/>
        <p:nvPr/>
      </p:nvGrpSpPr>
      <p:grpSpPr>
        <a:xfrm>
          <a:off x="0" y="0"/>
          <a:ext cx="0" cy="0"/>
          <a:chOff x="0" y="0"/>
          <a:chExt cx="0" cy="0"/>
        </a:xfrm>
      </p:grpSpPr>
      <p:sp>
        <p:nvSpPr>
          <p:cNvPr id="23" name="Google Shape;23;p5"/>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4" name="Google Shape;24;p5"/>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5"/>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5"/>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fld>
            <a:endParaRPr lang="es-MX"/>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matchingName="En blanco">
  <p:cSld name="BLANK">
    <p:spTree>
      <p:nvGrpSpPr>
        <p:cNvPr id="27" name="Shape 27"/>
        <p:cNvGrpSpPr/>
        <p:nvPr/>
      </p:nvGrpSpPr>
      <p:grpSpPr>
        <a:xfrm>
          <a:off x="0" y="0"/>
          <a:ext cx="0" cy="0"/>
          <a:chOff x="0" y="0"/>
          <a:chExt cx="0" cy="0"/>
        </a:xfrm>
      </p:grpSpPr>
      <p:sp>
        <p:nvSpPr>
          <p:cNvPr id="28" name="Google Shape;28;p6"/>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6"/>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0" name="Google Shape;30;p6"/>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fld>
            <a:endParaRPr lang="es-MX"/>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matchingName="Diapositiva de título">
  <p:cSld name="TITLE">
    <p:spTree>
      <p:nvGrpSpPr>
        <p:cNvPr id="31" name="Shape 31"/>
        <p:cNvGrpSpPr/>
        <p:nvPr/>
      </p:nvGrpSpPr>
      <p:grpSpPr>
        <a:xfrm>
          <a:off x="0" y="0"/>
          <a:ext cx="0" cy="0"/>
          <a:chOff x="0" y="0"/>
          <a:chExt cx="0" cy="0"/>
        </a:xfrm>
      </p:grpSpPr>
      <p:sp>
        <p:nvSpPr>
          <p:cNvPr id="32" name="Google Shape;32;p7"/>
          <p:cNvSpPr txBox="1"/>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panose="020F0502020204030204"/>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3" name="Google Shape;33;p7"/>
          <p:cNvSpPr txBox="1"/>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34" name="Google Shape;34;p7"/>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7"/>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6" name="Google Shape;36;p7"/>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fld>
            <a:endParaRPr lang="es-MX"/>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matchingName="Título y objetos">
  <p:cSld name="OBJECT">
    <p:spTree>
      <p:nvGrpSpPr>
        <p:cNvPr id="37" name="Shape 37"/>
        <p:cNvGrpSpPr/>
        <p:nvPr/>
      </p:nvGrpSpPr>
      <p:grpSpPr>
        <a:xfrm>
          <a:off x="0" y="0"/>
          <a:ext cx="0" cy="0"/>
          <a:chOff x="0" y="0"/>
          <a:chExt cx="0" cy="0"/>
        </a:xfrm>
      </p:grpSpPr>
      <p:sp>
        <p:nvSpPr>
          <p:cNvPr id="38" name="Google Shape;38;p8"/>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9" name="Google Shape;39;p8"/>
          <p:cNvSpPr txBox="1"/>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40" name="Google Shape;40;p8"/>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1" name="Google Shape;41;p8"/>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2" name="Google Shape;42;p8"/>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fld>
            <a:endParaRPr lang="es-MX"/>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matchingName="Encabezado de sección">
  <p:cSld name="SECTION_HEADER">
    <p:spTree>
      <p:nvGrpSpPr>
        <p:cNvPr id="43" name="Shape 43"/>
        <p:cNvGrpSpPr/>
        <p:nvPr/>
      </p:nvGrpSpPr>
      <p:grpSpPr>
        <a:xfrm>
          <a:off x="0" y="0"/>
          <a:ext cx="0" cy="0"/>
          <a:chOff x="0" y="0"/>
          <a:chExt cx="0" cy="0"/>
        </a:xfrm>
      </p:grpSpPr>
      <p:sp>
        <p:nvSpPr>
          <p:cNvPr id="44" name="Google Shape;44;p9"/>
          <p:cNvSpPr txBox="1"/>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panose="020F0502020204030204"/>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5" name="Google Shape;45;p9"/>
          <p:cNvSpPr txBox="1"/>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p:txBody>
      </p:sp>
      <p:sp>
        <p:nvSpPr>
          <p:cNvPr id="46" name="Google Shape;46;p9"/>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9"/>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9"/>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fld>
            <a:endParaRPr lang="es-MX"/>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 matchingName="Dos objetos">
  <p:cSld name="TWO_OBJECTS">
    <p:spTree>
      <p:nvGrpSpPr>
        <p:cNvPr id="49" name="Shape 49"/>
        <p:cNvGrpSpPr/>
        <p:nvPr/>
      </p:nvGrpSpPr>
      <p:grpSpPr>
        <a:xfrm>
          <a:off x="0" y="0"/>
          <a:ext cx="0" cy="0"/>
          <a:chOff x="0" y="0"/>
          <a:chExt cx="0" cy="0"/>
        </a:xfrm>
      </p:grpSpPr>
      <p:sp>
        <p:nvSpPr>
          <p:cNvPr id="50" name="Google Shape;50;p10"/>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10"/>
          <p:cNvSpPr txBox="1"/>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52" name="Google Shape;52;p10"/>
          <p:cNvSpPr txBox="1"/>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53" name="Google Shape;53;p10"/>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4" name="Google Shape;54;p10"/>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5" name="Google Shape;55;p10"/>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fld>
            <a:endParaRPr lang="es-MX"/>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TxTwoObj" matchingName="Comparación">
  <p:cSld name="TWO_OBJECTS_WITH_TEXT">
    <p:spTree>
      <p:nvGrpSpPr>
        <p:cNvPr id="56" name="Shape 56"/>
        <p:cNvGrpSpPr/>
        <p:nvPr/>
      </p:nvGrpSpPr>
      <p:grpSpPr>
        <a:xfrm>
          <a:off x="0" y="0"/>
          <a:ext cx="0" cy="0"/>
          <a:chOff x="0" y="0"/>
          <a:chExt cx="0" cy="0"/>
        </a:xfrm>
      </p:grpSpPr>
      <p:sp>
        <p:nvSpPr>
          <p:cNvPr id="57" name="Google Shape;57;p11"/>
          <p:cNvSpPr txBox="1"/>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8" name="Google Shape;58;p11"/>
          <p:cNvSpPr txBox="1"/>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p:txBody>
      </p:sp>
      <p:sp>
        <p:nvSpPr>
          <p:cNvPr id="59" name="Google Shape;59;p11"/>
          <p:cNvSpPr txBox="1"/>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60" name="Google Shape;60;p11"/>
          <p:cNvSpPr txBox="1"/>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p:txBody>
      </p:sp>
      <p:sp>
        <p:nvSpPr>
          <p:cNvPr id="61" name="Google Shape;61;p11"/>
          <p:cNvSpPr txBox="1"/>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62" name="Google Shape;62;p11"/>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3" name="Google Shape;63;p11"/>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11"/>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fld>
            <a:endParaRPr lang="es-MX"/>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matchingName="Solo el título">
  <p:cSld name="TITLE_ONLY">
    <p:spTree>
      <p:nvGrpSpPr>
        <p:cNvPr id="65" name="Shape 65"/>
        <p:cNvGrpSpPr/>
        <p:nvPr/>
      </p:nvGrpSpPr>
      <p:grpSpPr>
        <a:xfrm>
          <a:off x="0" y="0"/>
          <a:ext cx="0" cy="0"/>
          <a:chOff x="0" y="0"/>
          <a:chExt cx="0" cy="0"/>
        </a:xfrm>
      </p:grpSpPr>
      <p:sp>
        <p:nvSpPr>
          <p:cNvPr id="66" name="Google Shape;66;p12"/>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7" name="Google Shape;67;p12"/>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12"/>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12"/>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fld>
            <a:endParaRPr lang="es-MX"/>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matchingName="Contenido con título">
  <p:cSld name="OBJECT_WITH_CAPTION_TEXT">
    <p:spTree>
      <p:nvGrpSpPr>
        <p:cNvPr id="70" name="Shape 70"/>
        <p:cNvGrpSpPr/>
        <p:nvPr/>
      </p:nvGrpSpPr>
      <p:grpSpPr>
        <a:xfrm>
          <a:off x="0" y="0"/>
          <a:ext cx="0" cy="0"/>
          <a:chOff x="0" y="0"/>
          <a:chExt cx="0" cy="0"/>
        </a:xfrm>
      </p:grpSpPr>
      <p:sp>
        <p:nvSpPr>
          <p:cNvPr id="71" name="Google Shape;71;p13"/>
          <p:cNvSpPr txBox="1"/>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panose="020F0502020204030204"/>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3"/>
          <p:cNvSpPr txBox="1"/>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p:txBody>
      </p:sp>
      <p:sp>
        <p:nvSpPr>
          <p:cNvPr id="73" name="Google Shape;73;p13"/>
          <p:cNvSpPr txBox="1"/>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p:txBody>
      </p:sp>
      <p:sp>
        <p:nvSpPr>
          <p:cNvPr id="74" name="Google Shape;74;p13"/>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3"/>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3"/>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fld>
            <a:endParaRPr lang="es-MX"/>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matchingName="Imagen con título">
  <p:cSld name="PICTURE_WITH_CAPTION_TEXT">
    <p:spTree>
      <p:nvGrpSpPr>
        <p:cNvPr id="77" name="Shape 77"/>
        <p:cNvGrpSpPr/>
        <p:nvPr/>
      </p:nvGrpSpPr>
      <p:grpSpPr>
        <a:xfrm>
          <a:off x="0" y="0"/>
          <a:ext cx="0" cy="0"/>
          <a:chOff x="0" y="0"/>
          <a:chExt cx="0" cy="0"/>
        </a:xfrm>
      </p:grpSpPr>
      <p:sp>
        <p:nvSpPr>
          <p:cNvPr id="78" name="Google Shape;78;p14"/>
          <p:cNvSpPr txBox="1"/>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panose="020F0502020204030204"/>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4"/>
          <p:cNvSpPr/>
          <p:nvPr>
            <p:ph type="pic" idx="2"/>
          </p:nvPr>
        </p:nvSpPr>
        <p:spPr>
          <a:xfrm>
            <a:off x="5183188" y="987425"/>
            <a:ext cx="6172200" cy="4873625"/>
          </a:xfrm>
          <a:prstGeom prst="rect">
            <a:avLst/>
          </a:prstGeom>
          <a:noFill/>
          <a:ln>
            <a:noFill/>
          </a:ln>
        </p:spPr>
      </p:sp>
      <p:sp>
        <p:nvSpPr>
          <p:cNvPr id="80" name="Google Shape;80;p14"/>
          <p:cNvSpPr txBox="1"/>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p:txBody>
      </p:sp>
      <p:sp>
        <p:nvSpPr>
          <p:cNvPr id="81" name="Google Shape;81;p14"/>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4"/>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4"/>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fld>
            <a:endParaRPr lang="es-MX"/>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x" matchingName="Título y texto vertical">
  <p:cSld name="VERTICAL_TEXT">
    <p:spTree>
      <p:nvGrpSpPr>
        <p:cNvPr id="84" name="Shape 84"/>
        <p:cNvGrpSpPr/>
        <p:nvPr/>
      </p:nvGrpSpPr>
      <p:grpSpPr>
        <a:xfrm>
          <a:off x="0" y="0"/>
          <a:ext cx="0" cy="0"/>
          <a:chOff x="0" y="0"/>
          <a:chExt cx="0" cy="0"/>
        </a:xfrm>
      </p:grpSpPr>
      <p:sp>
        <p:nvSpPr>
          <p:cNvPr id="85" name="Google Shape;85;p15"/>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5"/>
          <p:cNvSpPr txBox="1"/>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87" name="Google Shape;87;p15"/>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5"/>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5"/>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fld>
            <a:endParaRPr lang="es-MX"/>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itleAndTx" matchingName="Título vertical y texto">
  <p:cSld name="VERTICAL_TITLE_AND_VERTICAL_TEXT">
    <p:spTree>
      <p:nvGrpSpPr>
        <p:cNvPr id="90" name="Shape 90"/>
        <p:cNvGrpSpPr/>
        <p:nvPr/>
      </p:nvGrpSpPr>
      <p:grpSpPr>
        <a:xfrm>
          <a:off x="0" y="0"/>
          <a:ext cx="0" cy="0"/>
          <a:chOff x="0" y="0"/>
          <a:chExt cx="0" cy="0"/>
        </a:xfrm>
      </p:grpSpPr>
      <p:sp>
        <p:nvSpPr>
          <p:cNvPr id="91" name="Google Shape;91;p16"/>
          <p:cNvSpPr txBox="1"/>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6"/>
          <p:cNvSpPr txBox="1"/>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93" name="Google Shape;93;p16"/>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4" name="Google Shape;94;p16"/>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5" name="Google Shape;95;p16"/>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MX"/>
            </a:fld>
            <a:endParaRPr lang="es-MX"/>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9" name="Shape 9"/>
        <p:cNvGrpSpPr/>
        <p:nvPr/>
      </p:nvGrpSpPr>
      <p:grpSpPr>
        <a:xfrm>
          <a:off x="0" y="0"/>
          <a:ext cx="0" cy="0"/>
          <a:chOff x="0" y="0"/>
          <a:chExt cx="0" cy="0"/>
        </a:xfrm>
      </p:grpSpPr>
      <p:sp>
        <p:nvSpPr>
          <p:cNvPr id="10" name="Google Shape;10;p1"/>
          <p:cNvSpPr txBox="1"/>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panose="020F0502020204030204"/>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381000"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355600"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2" name="Google Shape;12;p1"/>
          <p:cNvSpPr txBox="1"/>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3" name="Google Shape;13;p1"/>
          <p:cNvSpPr txBox="1"/>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4" name="Google Shape;14;p1"/>
          <p:cNvSpPr txBox="1"/>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s-MX"/>
            </a:fld>
            <a:endParaRPr lang="es-MX"/>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1.xml"/><Relationship Id="rId2" Type="http://schemas.openxmlformats.org/officeDocument/2006/relationships/image" Target="../media/image7.png"/><Relationship Id="rId1" Type="http://schemas.openxmlformats.org/officeDocument/2006/relationships/image" Target="../media/image6.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image" Target="../media/image8.png"/></Relationships>
</file>

<file path=ppt/slides/_rels/slide3.xml.rels><?xml version="1.0" encoding="UTF-8" standalone="yes"?>
<Relationships xmlns="http://schemas.openxmlformats.org/package/2006/relationships"><Relationship Id="rId4" Type="http://schemas.openxmlformats.org/officeDocument/2006/relationships/notesSlide" Target="../notesSlides/notesSlide3.xml"/><Relationship Id="rId3" Type="http://schemas.openxmlformats.org/officeDocument/2006/relationships/slideLayout" Target="../slideLayouts/slideLayout3.xml"/><Relationship Id="rId2" Type="http://schemas.openxmlformats.org/officeDocument/2006/relationships/image" Target="../media/image10.jpeg"/><Relationship Id="rId1" Type="http://schemas.openxmlformats.org/officeDocument/2006/relationships/image" Target="../media/image9.png"/></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2.xml"/><Relationship Id="rId3" Type="http://schemas.openxmlformats.org/officeDocument/2006/relationships/image" Target="../media/image7.png"/><Relationship Id="rId2" Type="http://schemas.openxmlformats.org/officeDocument/2006/relationships/image" Target="../media/image11.png"/><Relationship Id="rId1" Type="http://schemas.openxmlformats.org/officeDocument/2006/relationships/image" Target="../media/image8.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4.xml"/><Relationship Id="rId2" Type="http://schemas.openxmlformats.org/officeDocument/2006/relationships/image" Target="../media/image7.png"/><Relationship Id="rId1"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3.xml"/><Relationship Id="rId1" Type="http://schemas.openxmlformats.org/officeDocument/2006/relationships/image" Target="../media/image12.jpeg"/></Relationships>
</file>

<file path=ppt/slides/_rels/slide7.xml.rels><?xml version="1.0" encoding="UTF-8" standalone="yes"?>
<Relationships xmlns="http://schemas.openxmlformats.org/package/2006/relationships"><Relationship Id="rId5" Type="http://schemas.openxmlformats.org/officeDocument/2006/relationships/notesSlide" Target="../notesSlides/notesSlide7.xml"/><Relationship Id="rId4" Type="http://schemas.openxmlformats.org/officeDocument/2006/relationships/slideLayout" Target="../slideLayouts/slideLayout4.xml"/><Relationship Id="rId3" Type="http://schemas.openxmlformats.org/officeDocument/2006/relationships/image" Target="../media/image13.png"/><Relationship Id="rId2" Type="http://schemas.openxmlformats.org/officeDocument/2006/relationships/image" Target="../media/image7.png"/><Relationship Id="rId1" Type="http://schemas.openxmlformats.org/officeDocument/2006/relationships/image" Target="../media/image11.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4.xml"/><Relationship Id="rId2" Type="http://schemas.openxmlformats.org/officeDocument/2006/relationships/image" Target="../media/image7.png"/><Relationship Id="rId1" Type="http://schemas.openxmlformats.org/officeDocument/2006/relationships/image" Target="../media/image11.png"/></Relationships>
</file>

<file path=ppt/slides/_rels/slide9.xml.rels><?xml version="1.0" encoding="UTF-8" standalone="yes"?>
<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4.xml"/><Relationship Id="rId3" Type="http://schemas.openxmlformats.org/officeDocument/2006/relationships/image" Target="../media/image14.png"/><Relationship Id="rId2" Type="http://schemas.openxmlformats.org/officeDocument/2006/relationships/image" Target="../media/image7.png"/><Relationship Id="rId1" Type="http://schemas.openxmlformats.org/officeDocument/2006/relationships/image" Target="../media/image11.png"/></Relationships>
</file>

<file path=ppt/slides/_rels/slide10.xml.rels><?xml version="1.0" encoding="UTF-8" standalone="yes"?>
<Relationships xmlns="http://schemas.openxmlformats.org/package/2006/relationships"><Relationship Id="rId9" Type="http://schemas.openxmlformats.org/officeDocument/2006/relationships/hyperlink" Target="https://github.com/Valbu07/AlphaMind/tree/main/01_Proyecto/Trimestre%20III/03_Diccionario_de_Datos" TargetMode="External"/><Relationship Id="rId8" Type="http://schemas.openxmlformats.org/officeDocument/2006/relationships/hyperlink" Target="https://github.com/Valbu07/AlphaMind/tree/main/01_Proyecto/Trimestre%20III/02_Normalizacion" TargetMode="External"/><Relationship Id="rId7" Type="http://schemas.openxmlformats.org/officeDocument/2006/relationships/hyperlink" Target="https://github.com/Valbu07/AlphaMind/tree/main/01_Proyecto/Trimestre%20III/01_Modelo_Relacional" TargetMode="External"/><Relationship Id="rId6" Type="http://schemas.openxmlformats.org/officeDocument/2006/relationships/hyperlink" Target="https://github.com/Valbu07/AlphaMind/tree/main/01_Proyecto/Trimestre%20II/07_Ficha_Tecnica" TargetMode="External"/><Relationship Id="rId5" Type="http://schemas.openxmlformats.org/officeDocument/2006/relationships/hyperlink" Target="https://github.com/Valbu07/AlphaMind/tree/main/01_Proyecto/Trimestre%20II/06_Mockup" TargetMode="External"/><Relationship Id="rId4" Type="http://schemas.openxmlformats.org/officeDocument/2006/relationships/hyperlink" Target="https://github.com/Valbu07/AlphaMind/tree/main/01_Proyecto/Trimestre%20II/05_Casos_de_Uso" TargetMode="External"/><Relationship Id="rId3" Type="http://schemas.openxmlformats.org/officeDocument/2006/relationships/hyperlink" Target="https://github.com/Valbu07/AlphaMind/tree/main/01_Proyecto/Trimestre%20II/04_Requerimientos" TargetMode="External"/><Relationship Id="rId2" Type="http://schemas.openxmlformats.org/officeDocument/2006/relationships/hyperlink" Target="https://github.com/Valbu07/AlphaMind/tree/main/01_Proyecto/Trimestre%20II/03_Recoleccion_de_Informacion" TargetMode="External"/><Relationship Id="rId19" Type="http://schemas.openxmlformats.org/officeDocument/2006/relationships/notesSlide" Target="../notesSlides/notesSlide10.xml"/><Relationship Id="rId18" Type="http://schemas.openxmlformats.org/officeDocument/2006/relationships/slideLayout" Target="../slideLayouts/slideLayout4.xml"/><Relationship Id="rId17" Type="http://schemas.openxmlformats.org/officeDocument/2006/relationships/image" Target="../media/image7.png"/><Relationship Id="rId16" Type="http://schemas.openxmlformats.org/officeDocument/2006/relationships/image" Target="../media/image11.png"/><Relationship Id="rId15" Type="http://schemas.openxmlformats.org/officeDocument/2006/relationships/hyperlink" Target="https://github.com/Valbu07/AlphaMind/tree/main/01_Proyecto/Trimestre%20IV/03_Encriptacion/app" TargetMode="External"/><Relationship Id="rId14" Type="http://schemas.openxmlformats.org/officeDocument/2006/relationships/hyperlink" Target="https://github.com/Valbu07/AlphaMind/tree/main/01_Proyecto/Trimestre%20IV/02_Uso_Base_Datos" TargetMode="External"/><Relationship Id="rId13" Type="http://schemas.openxmlformats.org/officeDocument/2006/relationships/hyperlink" Target="https://github.com/Valbu07/AlphaMind/tree/main/01_Proyecto/Trimestre%20IV/01_Construccion_Base_de_Datos" TargetMode="External"/><Relationship Id="rId12" Type="http://schemas.openxmlformats.org/officeDocument/2006/relationships/hyperlink" Target="https://github.com/Valbu07/AlphaMind/tree/main/01_Proyecto/Trimestre%20III/06_Prototipo/Administrador" TargetMode="External"/><Relationship Id="rId11" Type="http://schemas.openxmlformats.org/officeDocument/2006/relationships/hyperlink" Target="https://github.com/Valbu07/AlphaMind/tree/main/01_Proyecto/Trimestre%20III/05_Diagrama_Distribuccion" TargetMode="External"/><Relationship Id="rId10" Type="http://schemas.openxmlformats.org/officeDocument/2006/relationships/hyperlink" Target="https://github.com/Valbu07/AlphaMind/tree/main/01_Proyecto/Trimestre%20III/04_Diagramas_Clases" TargetMode="External"/><Relationship Id="rId1" Type="http://schemas.openxmlformats.org/officeDocument/2006/relationships/hyperlink" Target="https://github.com/Valbu07/AlphaMind/tree/main/01_Proyecto/Trimestre%20II/02_Mapa_Procesos" TargetMode="Externa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5.xml"/><Relationship Id="rId1"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00" name="Shape 100"/>
        <p:cNvGrpSpPr/>
        <p:nvPr/>
      </p:nvGrpSpPr>
      <p:grpSpPr>
        <a:xfrm>
          <a:off x="0" y="0"/>
          <a:ext cx="0" cy="0"/>
          <a:chOff x="0" y="0"/>
          <a:chExt cx="0" cy="0"/>
        </a:xfrm>
      </p:grpSpPr>
      <p:sp>
        <p:nvSpPr>
          <p:cNvPr id="101" name="Google Shape;101;p17"/>
          <p:cNvSpPr txBox="1"/>
          <p:nvPr/>
        </p:nvSpPr>
        <p:spPr>
          <a:xfrm>
            <a:off x="995422" y="2551837"/>
            <a:ext cx="6453678" cy="101566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6000" b="1" i="0" u="none" strike="noStrike" cap="none">
                <a:solidFill>
                  <a:srgbClr val="404040"/>
                </a:solidFill>
                <a:latin typeface="Calibri" panose="020F0502020204030204"/>
                <a:ea typeface="Calibri" panose="020F0502020204030204"/>
                <a:cs typeface="Calibri" panose="020F0502020204030204"/>
                <a:sym typeface="Calibri" panose="020F0502020204030204"/>
              </a:rPr>
              <a:t>ALPHAMIND</a:t>
            </a:r>
            <a:endParaRPr lang="es-MX" sz="6000" b="1" i="0" u="none" strike="noStrike" cap="none">
              <a:solidFill>
                <a:srgbClr val="404040"/>
              </a:solidFill>
              <a:latin typeface="Calibri" panose="020F0502020204030204"/>
              <a:ea typeface="Calibri" panose="020F0502020204030204"/>
              <a:cs typeface="Calibri" panose="020F0502020204030204"/>
              <a:sym typeface="Calibri" panose="020F0502020204030204"/>
            </a:endParaRPr>
          </a:p>
        </p:txBody>
      </p:sp>
      <p:sp>
        <p:nvSpPr>
          <p:cNvPr id="102" name="Google Shape;102;p17"/>
          <p:cNvSpPr txBox="1"/>
          <p:nvPr/>
        </p:nvSpPr>
        <p:spPr>
          <a:xfrm>
            <a:off x="995421" y="3361983"/>
            <a:ext cx="3854165" cy="4770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MX" sz="1100" b="1" i="0">
                <a:solidFill>
                  <a:srgbClr val="404040"/>
                </a:solidFill>
                <a:latin typeface="Calibri" panose="020F0502020204030204"/>
                <a:ea typeface="Calibri" panose="020F0502020204030204"/>
                <a:cs typeface="Calibri" panose="020F0502020204030204"/>
                <a:sym typeface="Calibri" panose="020F0502020204030204"/>
              </a:rPr>
              <a:t>Plataforma integral para la optimización de tareas y rendimiento en CDA </a:t>
            </a:r>
            <a:r>
              <a:rPr lang="es-MX" sz="1400" b="1" i="0">
                <a:solidFill>
                  <a:srgbClr val="404040"/>
                </a:solidFill>
                <a:latin typeface="Calibri" panose="020F0502020204030204"/>
                <a:ea typeface="Calibri" panose="020F0502020204030204"/>
                <a:cs typeface="Calibri" panose="020F0502020204030204"/>
                <a:sym typeface="Calibri" panose="020F0502020204030204"/>
              </a:rPr>
              <a:t>Cediplus</a:t>
            </a:r>
            <a:r>
              <a:rPr lang="es-MX" sz="1100" b="1" i="0">
                <a:solidFill>
                  <a:srgbClr val="404040"/>
                </a:solidFill>
                <a:latin typeface="Calibri" panose="020F0502020204030204"/>
                <a:ea typeface="Calibri" panose="020F0502020204030204"/>
                <a:cs typeface="Calibri" panose="020F0502020204030204"/>
                <a:sym typeface="Calibri" panose="020F0502020204030204"/>
              </a:rPr>
              <a:t> Soacha.</a:t>
            </a:r>
            <a:endParaRPr sz="1100">
              <a:solidFill>
                <a:schemeClr val="dk1"/>
              </a:solidFill>
              <a:latin typeface="Calibri" panose="020F0502020204030204"/>
              <a:ea typeface="Calibri" panose="020F0502020204030204"/>
              <a:cs typeface="Calibri" panose="020F0502020204030204"/>
              <a:sym typeface="Calibri" panose="020F0502020204030204"/>
            </a:endParaRPr>
          </a:p>
        </p:txBody>
      </p:sp>
      <p:sp>
        <p:nvSpPr>
          <p:cNvPr id="103" name="Google Shape;103;p17"/>
          <p:cNvSpPr/>
          <p:nvPr/>
        </p:nvSpPr>
        <p:spPr>
          <a:xfrm>
            <a:off x="0" y="0"/>
            <a:ext cx="12192000" cy="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panose="020F0502020204030204"/>
              <a:ea typeface="Calibri" panose="020F0502020204030204"/>
              <a:cs typeface="Calibri" panose="020F0502020204030204"/>
              <a:sym typeface="Calibri" panose="020F0502020204030204"/>
            </a:endParaRPr>
          </a:p>
        </p:txBody>
      </p:sp>
      <p:pic>
        <p:nvPicPr>
          <p:cNvPr id="104" name="Google Shape;104;p17"/>
          <p:cNvPicPr preferRelativeResize="0"/>
          <p:nvPr/>
        </p:nvPicPr>
        <p:blipFill rotWithShape="1">
          <a:blip r:embed="rId1"/>
          <a:srcRect/>
          <a:stretch>
            <a:fillRect/>
          </a:stretch>
        </p:blipFill>
        <p:spPr>
          <a:xfrm>
            <a:off x="6421654" y="2527066"/>
            <a:ext cx="2001545" cy="1896201"/>
          </a:xfrm>
          <a:prstGeom prst="rect">
            <a:avLst/>
          </a:prstGeom>
          <a:noFill/>
          <a:ln>
            <a:noFill/>
          </a:ln>
        </p:spPr>
      </p:pic>
      <p:pic>
        <p:nvPicPr>
          <p:cNvPr id="105" name="Google Shape;105;p17"/>
          <p:cNvPicPr preferRelativeResize="0"/>
          <p:nvPr/>
        </p:nvPicPr>
        <p:blipFill rotWithShape="1">
          <a:blip r:embed="rId2"/>
          <a:srcRect/>
          <a:stretch>
            <a:fillRect/>
          </a:stretch>
        </p:blipFill>
        <p:spPr>
          <a:xfrm>
            <a:off x="8423199" y="2956053"/>
            <a:ext cx="1857375" cy="103822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09" name="Shape 109"/>
        <p:cNvGrpSpPr/>
        <p:nvPr/>
      </p:nvGrpSpPr>
      <p:grpSpPr>
        <a:xfrm>
          <a:off x="0" y="0"/>
          <a:ext cx="0" cy="0"/>
          <a:chOff x="0" y="0"/>
          <a:chExt cx="0" cy="0"/>
        </a:xfrm>
      </p:grpSpPr>
      <p:cxnSp>
        <p:nvCxnSpPr>
          <p:cNvPr id="110" name="Google Shape;110;p18"/>
          <p:cNvCxnSpPr/>
          <p:nvPr/>
        </p:nvCxnSpPr>
        <p:spPr>
          <a:xfrm>
            <a:off x="5227899" y="3321934"/>
            <a:ext cx="1736203" cy="0"/>
          </a:xfrm>
          <a:prstGeom prst="straightConnector1">
            <a:avLst/>
          </a:prstGeom>
          <a:noFill/>
          <a:ln w="9525" cap="flat" cmpd="sng">
            <a:solidFill>
              <a:schemeClr val="lt1"/>
            </a:solidFill>
            <a:prstDash val="solid"/>
            <a:miter lim="800000"/>
            <a:headEnd type="none" w="sm" len="sm"/>
            <a:tailEnd type="none" w="sm" len="sm"/>
          </a:ln>
        </p:spPr>
      </p:cxnSp>
      <p:sp>
        <p:nvSpPr>
          <p:cNvPr id="111" name="Google Shape;111;p18"/>
          <p:cNvSpPr txBox="1"/>
          <p:nvPr/>
        </p:nvSpPr>
        <p:spPr>
          <a:xfrm>
            <a:off x="4168816" y="3463724"/>
            <a:ext cx="3854368" cy="83099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MX" sz="1600">
                <a:solidFill>
                  <a:schemeClr val="lt1"/>
                </a:solidFill>
                <a:latin typeface="Work Sans Light"/>
                <a:ea typeface="Work Sans Light"/>
                <a:cs typeface="Work Sans Light"/>
                <a:sym typeface="Work Sans Light"/>
              </a:rPr>
              <a:t>Rodríguez Clavijo Danna Valentina</a:t>
            </a:r>
            <a:endParaRPr lang="es-MX" sz="1600">
              <a:solidFill>
                <a:schemeClr val="lt1"/>
              </a:solidFill>
              <a:latin typeface="Work Sans Light"/>
              <a:ea typeface="Work Sans Light"/>
              <a:cs typeface="Work Sans Light"/>
              <a:sym typeface="Work Sans Light"/>
            </a:endParaRPr>
          </a:p>
          <a:p>
            <a:pPr marL="0" marR="0" lvl="0" indent="0" algn="ctr" rtl="0">
              <a:spcBef>
                <a:spcPts val="0"/>
              </a:spcBef>
              <a:spcAft>
                <a:spcPts val="0"/>
              </a:spcAft>
              <a:buNone/>
            </a:pPr>
            <a:r>
              <a:rPr lang="es-MX" sz="1600">
                <a:solidFill>
                  <a:schemeClr val="lt1"/>
                </a:solidFill>
                <a:latin typeface="Work Sans Light"/>
                <a:ea typeface="Work Sans Light"/>
                <a:cs typeface="Work Sans Light"/>
                <a:sym typeface="Work Sans Light"/>
              </a:rPr>
              <a:t>Machado Muñoz Dayana</a:t>
            </a:r>
            <a:endParaRPr lang="es-MX" sz="1600">
              <a:solidFill>
                <a:schemeClr val="lt1"/>
              </a:solidFill>
              <a:latin typeface="Work Sans Light"/>
              <a:ea typeface="Work Sans Light"/>
              <a:cs typeface="Work Sans Light"/>
              <a:sym typeface="Work Sans Light"/>
            </a:endParaRPr>
          </a:p>
          <a:p>
            <a:pPr marL="0" marR="0" lvl="0" indent="0" algn="ctr" rtl="0">
              <a:spcBef>
                <a:spcPts val="0"/>
              </a:spcBef>
              <a:spcAft>
                <a:spcPts val="0"/>
              </a:spcAft>
              <a:buNone/>
            </a:pPr>
            <a:r>
              <a:rPr lang="es-MX" sz="1600">
                <a:solidFill>
                  <a:schemeClr val="lt1"/>
                </a:solidFill>
                <a:latin typeface="Work Sans Light"/>
                <a:ea typeface="Work Sans Light"/>
                <a:cs typeface="Work Sans Light"/>
                <a:sym typeface="Work Sans Light"/>
              </a:rPr>
              <a:t>Valbuena Rodríguez Daniel Andrés</a:t>
            </a:r>
            <a:endParaRPr lang="es-MX" sz="1600">
              <a:solidFill>
                <a:schemeClr val="lt1"/>
              </a:solidFill>
              <a:latin typeface="Work Sans Light"/>
              <a:ea typeface="Work Sans Light"/>
              <a:cs typeface="Work Sans Light"/>
              <a:sym typeface="Work Sans Light"/>
            </a:endParaRPr>
          </a:p>
        </p:txBody>
      </p:sp>
      <p:sp>
        <p:nvSpPr>
          <p:cNvPr id="112" name="Google Shape;112;p18"/>
          <p:cNvSpPr txBox="1"/>
          <p:nvPr/>
        </p:nvSpPr>
        <p:spPr>
          <a:xfrm>
            <a:off x="1068888" y="5279998"/>
            <a:ext cx="10054224" cy="107721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Servicio Nacional de Aprendizaje –SENA, Centro de Electricidad Electrónica y Telecomunicaciones</a:t>
            </a:r>
            <a:endParaRPr lang="es-MX" sz="1600" b="1">
              <a:solidFill>
                <a:schemeClr val="lt1"/>
              </a:solidFill>
              <a:latin typeface="Work Sans Light"/>
              <a:ea typeface="Work Sans Light"/>
              <a:cs typeface="Work Sans Light"/>
              <a:sym typeface="Work Sans Light"/>
            </a:endParaRPr>
          </a:p>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Técnico en Programación de Software - TPS, Primer Trimestre</a:t>
            </a:r>
            <a:endParaRPr lang="es-MX" sz="1600" b="1">
              <a:solidFill>
                <a:schemeClr val="lt1"/>
              </a:solidFill>
              <a:latin typeface="Work Sans Light"/>
              <a:ea typeface="Work Sans Light"/>
              <a:cs typeface="Work Sans Light"/>
              <a:sym typeface="Work Sans Light"/>
            </a:endParaRPr>
          </a:p>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Instructor Albeiro Ramos</a:t>
            </a:r>
            <a:endParaRPr lang="es-MX" sz="1600" b="1">
              <a:solidFill>
                <a:schemeClr val="lt1"/>
              </a:solidFill>
              <a:latin typeface="Work Sans Light"/>
              <a:ea typeface="Work Sans Light"/>
              <a:cs typeface="Work Sans Light"/>
              <a:sym typeface="Work Sans Light"/>
            </a:endParaRPr>
          </a:p>
          <a:p>
            <a:pPr marL="0" marR="0" lvl="0" indent="0" algn="ctr" rtl="0">
              <a:spcBef>
                <a:spcPts val="0"/>
              </a:spcBef>
              <a:spcAft>
                <a:spcPts val="0"/>
              </a:spcAft>
              <a:buNone/>
            </a:pPr>
            <a:r>
              <a:rPr lang="es-MX" sz="1600" b="1">
                <a:solidFill>
                  <a:schemeClr val="lt1"/>
                </a:solidFill>
                <a:latin typeface="Work Sans Light"/>
                <a:ea typeface="Work Sans Light"/>
                <a:cs typeface="Work Sans Light"/>
                <a:sym typeface="Work Sans Light"/>
              </a:rPr>
              <a:t>Bogotá, 25 de marzo de 2023</a:t>
            </a:r>
            <a:endParaRPr sz="1600" b="1">
              <a:solidFill>
                <a:schemeClr val="lt1"/>
              </a:solidFill>
              <a:latin typeface="Work Sans Light"/>
              <a:ea typeface="Work Sans Light"/>
              <a:cs typeface="Work Sans Light"/>
              <a:sym typeface="Work Sans Light"/>
            </a:endParaRPr>
          </a:p>
        </p:txBody>
      </p:sp>
      <p:sp>
        <p:nvSpPr>
          <p:cNvPr id="113" name="Google Shape;113;p18"/>
          <p:cNvSpPr txBox="1"/>
          <p:nvPr/>
        </p:nvSpPr>
        <p:spPr>
          <a:xfrm>
            <a:off x="3687631" y="1730836"/>
            <a:ext cx="4656577" cy="110799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6600" b="1" i="0">
                <a:solidFill>
                  <a:schemeClr val="lt1"/>
                </a:solidFill>
                <a:latin typeface="Calibri" panose="020F0502020204030204"/>
                <a:ea typeface="Calibri" panose="020F0502020204030204"/>
                <a:cs typeface="Calibri" panose="020F0502020204030204"/>
                <a:sym typeface="Calibri" panose="020F0502020204030204"/>
              </a:rPr>
              <a:t>ALPHAMIND</a:t>
            </a:r>
            <a:endParaRPr lang="es-MX" sz="6600" b="1" i="0">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114" name="Google Shape;114;p18"/>
          <p:cNvSpPr txBox="1"/>
          <p:nvPr/>
        </p:nvSpPr>
        <p:spPr>
          <a:xfrm>
            <a:off x="4088838" y="2601754"/>
            <a:ext cx="385416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MX" sz="1200" b="1" i="0">
                <a:solidFill>
                  <a:schemeClr val="lt1"/>
                </a:solidFill>
                <a:latin typeface="Calibri" panose="020F0502020204030204"/>
                <a:ea typeface="Calibri" panose="020F0502020204030204"/>
                <a:cs typeface="Calibri" panose="020F0502020204030204"/>
                <a:sym typeface="Calibri" panose="020F0502020204030204"/>
              </a:rPr>
              <a:t>Plataforma integral para la optimización de tareas y rendimiento en CDA Cediplus Soacha.</a:t>
            </a:r>
            <a:endParaRPr sz="1200">
              <a:solidFill>
                <a:schemeClr val="lt1"/>
              </a:solidFill>
              <a:latin typeface="Calibri" panose="020F0502020204030204"/>
              <a:ea typeface="Calibri" panose="020F0502020204030204"/>
              <a:cs typeface="Calibri" panose="020F0502020204030204"/>
              <a:sym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18" name="Shape 118"/>
        <p:cNvGrpSpPr/>
        <p:nvPr/>
      </p:nvGrpSpPr>
      <p:grpSpPr>
        <a:xfrm>
          <a:off x="0" y="0"/>
          <a:ext cx="0" cy="0"/>
          <a:chOff x="0" y="0"/>
          <a:chExt cx="0" cy="0"/>
        </a:xfrm>
      </p:grpSpPr>
      <p:sp>
        <p:nvSpPr>
          <p:cNvPr id="119" name="Google Shape;119;p19"/>
          <p:cNvSpPr/>
          <p:nvPr/>
        </p:nvSpPr>
        <p:spPr>
          <a:xfrm>
            <a:off x="717629" y="1661897"/>
            <a:ext cx="2939970" cy="347242"/>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120" name="Google Shape;120;p19"/>
          <p:cNvSpPr txBox="1"/>
          <p:nvPr/>
        </p:nvSpPr>
        <p:spPr>
          <a:xfrm>
            <a:off x="1157467" y="1469719"/>
            <a:ext cx="351474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600"/>
              <a:buFont typeface="Work Sans Light"/>
              <a:buNone/>
            </a:pPr>
            <a:r>
              <a:rPr lang="es-MX" sz="3600">
                <a:solidFill>
                  <a:srgbClr val="38AA00"/>
                </a:solidFill>
                <a:latin typeface="Work Sans Light"/>
                <a:ea typeface="Work Sans Light"/>
                <a:cs typeface="Work Sans Light"/>
                <a:sym typeface="Work Sans Light"/>
              </a:rPr>
              <a:t>Introducción</a:t>
            </a:r>
            <a:endParaRPr lang="es-MX" sz="3600">
              <a:solidFill>
                <a:srgbClr val="38AA00"/>
              </a:solidFill>
              <a:latin typeface="Work Sans Light"/>
              <a:ea typeface="Work Sans Light"/>
              <a:cs typeface="Work Sans Light"/>
              <a:sym typeface="Work Sans Light"/>
            </a:endParaRPr>
          </a:p>
        </p:txBody>
      </p:sp>
      <p:sp>
        <p:nvSpPr>
          <p:cNvPr id="121" name="Google Shape;121;p19"/>
          <p:cNvSpPr txBox="1"/>
          <p:nvPr/>
        </p:nvSpPr>
        <p:spPr>
          <a:xfrm>
            <a:off x="241976" y="2232799"/>
            <a:ext cx="5345700" cy="3047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a:solidFill>
                  <a:schemeClr val="dk1"/>
                </a:solidFill>
                <a:latin typeface="Work Sans Light"/>
                <a:ea typeface="Work Sans Light"/>
                <a:cs typeface="Work Sans Light"/>
                <a:sym typeface="Work Sans Light"/>
              </a:rPr>
              <a:t>Cediplus es una empresa de Soacha que ofrece servicios técnico-mecánicos para vehículos. Aunque su área operativa es eficiente, la parte administrativa presenta desestruración en tareas, bajo seguimiento del personal y baja productividad.</a:t>
            </a:r>
            <a:endParaRPr lang="es-MX" sz="160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MX" sz="1600">
                <a:solidFill>
                  <a:schemeClr val="dk1"/>
                </a:solidFill>
                <a:latin typeface="Work Sans Light"/>
                <a:ea typeface="Work Sans Light"/>
                <a:cs typeface="Work Sans Light"/>
                <a:sym typeface="Work Sans Light"/>
              </a:rPr>
              <a:t>Esta presentación describe el proyecto Alphamind, un sistema web para optimizar tareas administrativas. Se expone el problema detectado, los objetivos propuestos, la justificación de la solución, el alcance funcional del sistema y la delimitación del proyecto.</a:t>
            </a:r>
            <a:endParaRPr lang="es-MX" sz="160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a:solidFill>
                <a:schemeClr val="dk1"/>
              </a:solidFill>
              <a:latin typeface="Work Sans Light"/>
              <a:ea typeface="Work Sans Light"/>
              <a:cs typeface="Work Sans Light"/>
              <a:sym typeface="Work Sans Light"/>
            </a:endParaRPr>
          </a:p>
        </p:txBody>
      </p:sp>
      <p:pic>
        <p:nvPicPr>
          <p:cNvPr id="122" name="Google Shape;122;p19" descr="CDA CEDIPLUS SOACHA"/>
          <p:cNvPicPr preferRelativeResize="0"/>
          <p:nvPr/>
        </p:nvPicPr>
        <p:blipFill rotWithShape="1">
          <a:blip r:embed="rId2"/>
          <a:srcRect r="16877"/>
          <a:stretch>
            <a:fillRect/>
          </a:stretch>
        </p:blipFill>
        <p:spPr>
          <a:xfrm>
            <a:off x="6491467" y="0"/>
            <a:ext cx="5700533" cy="685800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26" name="Shape 126"/>
        <p:cNvGrpSpPr/>
        <p:nvPr/>
      </p:nvGrpSpPr>
      <p:grpSpPr>
        <a:xfrm>
          <a:off x="0" y="0"/>
          <a:ext cx="0" cy="0"/>
          <a:chOff x="0" y="0"/>
          <a:chExt cx="0" cy="0"/>
        </a:xfrm>
      </p:grpSpPr>
      <p:sp>
        <p:nvSpPr>
          <p:cNvPr id="127" name="Google Shape;127;p20"/>
          <p:cNvSpPr txBox="1"/>
          <p:nvPr/>
        </p:nvSpPr>
        <p:spPr>
          <a:xfrm>
            <a:off x="456236" y="416689"/>
            <a:ext cx="10515600" cy="741563"/>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chemeClr val="lt1"/>
              </a:buClr>
              <a:buSzPts val="4400"/>
              <a:buFont typeface="Work Sans Medium"/>
              <a:buNone/>
            </a:pPr>
            <a:r>
              <a:rPr lang="es-MX" sz="4400">
                <a:solidFill>
                  <a:schemeClr val="lt1"/>
                </a:solidFill>
                <a:latin typeface="Work Sans Medium"/>
                <a:ea typeface="Work Sans Medium"/>
                <a:cs typeface="Work Sans Medium"/>
                <a:sym typeface="Work Sans Medium"/>
              </a:rPr>
              <a:t>Nombre del Proyecto</a:t>
            </a:r>
            <a:endParaRPr lang="es-MX" sz="4400">
              <a:solidFill>
                <a:schemeClr val="lt1"/>
              </a:solidFill>
              <a:latin typeface="Work Sans Medium"/>
              <a:ea typeface="Work Sans Medium"/>
              <a:cs typeface="Work Sans Medium"/>
              <a:sym typeface="Work Sans Medium"/>
            </a:endParaRPr>
          </a:p>
        </p:txBody>
      </p:sp>
      <p:sp>
        <p:nvSpPr>
          <p:cNvPr id="128" name="Google Shape;128;p20"/>
          <p:cNvSpPr txBox="1"/>
          <p:nvPr/>
        </p:nvSpPr>
        <p:spPr>
          <a:xfrm>
            <a:off x="6653014" y="2489547"/>
            <a:ext cx="4547336" cy="304698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3200" b="1">
                <a:solidFill>
                  <a:schemeClr val="dk1"/>
                </a:solidFill>
                <a:latin typeface="Work Sans Light"/>
                <a:ea typeface="Work Sans Light"/>
                <a:cs typeface="Work Sans Light"/>
                <a:sym typeface="Work Sans Light"/>
              </a:rPr>
              <a:t>Problema</a:t>
            </a:r>
            <a:endParaRPr lang="es-MX" sz="3200" b="1">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MX" sz="3200" b="1">
                <a:solidFill>
                  <a:schemeClr val="dk1"/>
                </a:solidFill>
                <a:latin typeface="Work Sans Light"/>
                <a:ea typeface="Work Sans Light"/>
                <a:cs typeface="Work Sans Light"/>
                <a:sym typeface="Work Sans Light"/>
              </a:rPr>
              <a:t>Objetivos</a:t>
            </a:r>
            <a:endParaRPr lang="es-MX" sz="3200" b="1">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MX" sz="3200" b="1">
                <a:solidFill>
                  <a:schemeClr val="dk1"/>
                </a:solidFill>
                <a:latin typeface="Work Sans Light"/>
                <a:ea typeface="Work Sans Light"/>
                <a:cs typeface="Work Sans Light"/>
                <a:sym typeface="Work Sans Light"/>
              </a:rPr>
              <a:t>Justificación</a:t>
            </a:r>
            <a:endParaRPr lang="es-MX" sz="3200" b="1">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MX" sz="3200" b="1">
                <a:solidFill>
                  <a:schemeClr val="dk1"/>
                </a:solidFill>
                <a:latin typeface="Work Sans Light"/>
                <a:ea typeface="Work Sans Light"/>
                <a:cs typeface="Work Sans Light"/>
                <a:sym typeface="Work Sans Light"/>
              </a:rPr>
              <a:t>Alcance</a:t>
            </a:r>
            <a:endParaRPr lang="es-MX" sz="3200" b="1">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MX" sz="3200" b="1">
                <a:solidFill>
                  <a:schemeClr val="dk1"/>
                </a:solidFill>
                <a:latin typeface="Work Sans Light"/>
                <a:ea typeface="Work Sans Light"/>
                <a:cs typeface="Work Sans Light"/>
                <a:sym typeface="Work Sans Light"/>
              </a:rPr>
              <a:t>Delimitación</a:t>
            </a:r>
            <a:endParaRPr lang="es-MX" sz="3200" b="1">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MX" sz="3200" b="1">
                <a:solidFill>
                  <a:schemeClr val="dk1"/>
                </a:solidFill>
                <a:latin typeface="Work Sans Light"/>
                <a:ea typeface="Work Sans Light"/>
                <a:cs typeface="Work Sans Light"/>
                <a:sym typeface="Work Sans Light"/>
              </a:rPr>
              <a:t>Entregables Trimestre</a:t>
            </a:r>
            <a:endParaRPr lang="es-MX" sz="3200" b="1">
              <a:solidFill>
                <a:schemeClr val="dk1"/>
              </a:solidFill>
              <a:latin typeface="Work Sans Light"/>
              <a:ea typeface="Work Sans Light"/>
              <a:cs typeface="Work Sans Light"/>
              <a:sym typeface="Work Sans Light"/>
            </a:endParaRPr>
          </a:p>
        </p:txBody>
      </p:sp>
      <p:pic>
        <p:nvPicPr>
          <p:cNvPr id="129" name="Google Shape;129;p20"/>
          <p:cNvPicPr preferRelativeResize="0"/>
          <p:nvPr/>
        </p:nvPicPr>
        <p:blipFill rotWithShape="1">
          <a:blip r:embed="rId2"/>
          <a:srcRect/>
          <a:stretch>
            <a:fillRect/>
          </a:stretch>
        </p:blipFill>
        <p:spPr>
          <a:xfrm>
            <a:off x="1648805" y="2865071"/>
            <a:ext cx="1756908" cy="1615547"/>
          </a:xfrm>
          <a:prstGeom prst="rect">
            <a:avLst/>
          </a:prstGeom>
          <a:noFill/>
          <a:ln>
            <a:noFill/>
          </a:ln>
        </p:spPr>
      </p:pic>
      <p:pic>
        <p:nvPicPr>
          <p:cNvPr id="130" name="Google Shape;130;p20"/>
          <p:cNvPicPr preferRelativeResize="0"/>
          <p:nvPr/>
        </p:nvPicPr>
        <p:blipFill rotWithShape="1">
          <a:blip r:embed="rId3"/>
          <a:srcRect/>
          <a:stretch>
            <a:fillRect/>
          </a:stretch>
        </p:blipFill>
        <p:spPr>
          <a:xfrm>
            <a:off x="3405722" y="3147038"/>
            <a:ext cx="1881344" cy="1051623"/>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34" name="Shape 134"/>
        <p:cNvGrpSpPr/>
        <p:nvPr/>
      </p:nvGrpSpPr>
      <p:grpSpPr>
        <a:xfrm>
          <a:off x="0" y="0"/>
          <a:ext cx="0" cy="0"/>
          <a:chOff x="0" y="0"/>
          <a:chExt cx="0" cy="0"/>
        </a:xfrm>
      </p:grpSpPr>
      <p:sp>
        <p:nvSpPr>
          <p:cNvPr id="135" name="Google Shape;135;p21"/>
          <p:cNvSpPr txBox="1"/>
          <p:nvPr>
            <p:ph type="title"/>
          </p:nvPr>
        </p:nvSpPr>
        <p:spPr>
          <a:xfrm>
            <a:off x="456236" y="11048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Problema</a:t>
            </a:r>
            <a:endParaRPr lang="es-MX">
              <a:solidFill>
                <a:schemeClr val="lt1"/>
              </a:solidFill>
              <a:latin typeface="Work Sans Medium"/>
              <a:ea typeface="Work Sans Medium"/>
              <a:cs typeface="Work Sans Medium"/>
              <a:sym typeface="Work Sans Medium"/>
            </a:endParaRPr>
          </a:p>
        </p:txBody>
      </p:sp>
      <p:sp>
        <p:nvSpPr>
          <p:cNvPr id="136" name="Google Shape;136;p21"/>
          <p:cNvSpPr txBox="1"/>
          <p:nvPr/>
        </p:nvSpPr>
        <p:spPr>
          <a:xfrm>
            <a:off x="455856" y="1893633"/>
            <a:ext cx="5357100" cy="1077300"/>
          </a:xfrm>
          <a:prstGeom prst="rect">
            <a:avLst/>
          </a:prstGeom>
          <a:noFill/>
          <a:ln>
            <a:noFill/>
          </a:ln>
        </p:spPr>
        <p:txBody>
          <a:bodyPr spcFirstLastPara="1" wrap="square" lIns="91425" tIns="45700" rIns="91425" bIns="45700" anchor="t" anchorCtr="0">
            <a:spAutoFit/>
          </a:bodyPr>
          <a:lstStyle/>
          <a:p>
            <a:pPr marL="0" marR="0" lvl="0" indent="0" algn="just" rtl="0">
              <a:spcBef>
                <a:spcPts val="0"/>
              </a:spcBef>
              <a:spcAft>
                <a:spcPts val="0"/>
              </a:spcAft>
              <a:buNone/>
            </a:pPr>
            <a:r>
              <a:rPr lang="es-MX" sz="1600">
                <a:solidFill>
                  <a:schemeClr val="dk1"/>
                </a:solidFill>
                <a:latin typeface="Work Sans Light"/>
                <a:ea typeface="Work Sans Light"/>
                <a:cs typeface="Work Sans Light"/>
                <a:sym typeface="Work Sans Light"/>
              </a:rPr>
              <a:t>Cediplus, empresa de servicios técnico-mecánicos para vehículos, ubicada en Soacha–Cundinamarca </a:t>
            </a:r>
            <a:endParaRPr lang="es-MX" sz="1600">
              <a:solidFill>
                <a:schemeClr val="dk1"/>
              </a:solidFill>
              <a:latin typeface="Work Sans Light"/>
              <a:ea typeface="Work Sans Light"/>
              <a:cs typeface="Work Sans Light"/>
              <a:sym typeface="Work Sans Light"/>
            </a:endParaRPr>
          </a:p>
          <a:p>
            <a:pPr marL="0" marR="0" lvl="0" indent="0" algn="just" rtl="0">
              <a:spcBef>
                <a:spcPts val="0"/>
              </a:spcBef>
              <a:spcAft>
                <a:spcPts val="0"/>
              </a:spcAft>
              <a:buNone/>
            </a:pPr>
            <a:r>
              <a:rPr lang="es-MX" sz="1600">
                <a:solidFill>
                  <a:schemeClr val="dk1"/>
                </a:solidFill>
                <a:latin typeface="Work Sans Light"/>
                <a:ea typeface="Work Sans Light"/>
                <a:cs typeface="Work Sans Light"/>
                <a:sym typeface="Work Sans Light"/>
              </a:rPr>
              <a:t>destaca por su eficiente control operativo en reparaciones y mantenimiento.</a:t>
            </a:r>
            <a:endParaRPr lang="es-MX" sz="1600">
              <a:solidFill>
                <a:schemeClr val="dk1"/>
              </a:solidFill>
              <a:latin typeface="Work Sans Light"/>
              <a:ea typeface="Work Sans Light"/>
              <a:cs typeface="Work Sans Light"/>
              <a:sym typeface="Work Sans Light"/>
            </a:endParaRPr>
          </a:p>
        </p:txBody>
      </p:sp>
      <p:pic>
        <p:nvPicPr>
          <p:cNvPr id="138" name="Google Shape;138;p21"/>
          <p:cNvPicPr preferRelativeResize="0"/>
          <p:nvPr/>
        </p:nvPicPr>
        <p:blipFill rotWithShape="1">
          <a:blip r:embed="rId1"/>
          <a:srcRect/>
          <a:stretch>
            <a:fillRect/>
          </a:stretch>
        </p:blipFill>
        <p:spPr>
          <a:xfrm>
            <a:off x="7855078" y="7930"/>
            <a:ext cx="1451120" cy="1334363"/>
          </a:xfrm>
          <a:prstGeom prst="rect">
            <a:avLst/>
          </a:prstGeom>
          <a:noFill/>
          <a:ln>
            <a:noFill/>
          </a:ln>
        </p:spPr>
      </p:pic>
      <p:pic>
        <p:nvPicPr>
          <p:cNvPr id="139" name="Google Shape;139;p21"/>
          <p:cNvPicPr preferRelativeResize="0"/>
          <p:nvPr/>
        </p:nvPicPr>
        <p:blipFill rotWithShape="1">
          <a:blip r:embed="rId2"/>
          <a:srcRect/>
          <a:stretch>
            <a:fillRect/>
          </a:stretch>
        </p:blipFill>
        <p:spPr>
          <a:xfrm>
            <a:off x="9306198" y="214705"/>
            <a:ext cx="1647324" cy="920812"/>
          </a:xfrm>
          <a:prstGeom prst="rect">
            <a:avLst/>
          </a:prstGeom>
          <a:noFill/>
          <a:ln>
            <a:noFill/>
          </a:ln>
        </p:spPr>
      </p:pic>
      <p:sp>
        <p:nvSpPr>
          <p:cNvPr id="146" name="Google Shape;146;p22"/>
          <p:cNvSpPr txBox="1"/>
          <p:nvPr/>
        </p:nvSpPr>
        <p:spPr>
          <a:xfrm>
            <a:off x="410505" y="3429310"/>
            <a:ext cx="5330400" cy="2308800"/>
          </a:xfrm>
          <a:prstGeom prst="rect">
            <a:avLst/>
          </a:prstGeom>
          <a:noFill/>
          <a:ln>
            <a:noFill/>
          </a:ln>
        </p:spPr>
        <p:txBody>
          <a:bodyPr spcFirstLastPara="1" wrap="square" lIns="91425" tIns="45700" rIns="91425" bIns="45700" anchor="t" anchorCtr="0">
            <a:spAutoFit/>
          </a:bodyPr>
          <a:lstStyle/>
          <a:p>
            <a:pPr marL="0" lvl="0" indent="0" algn="just" rtl="0">
              <a:spcBef>
                <a:spcPts val="0"/>
              </a:spcBef>
              <a:spcAft>
                <a:spcPts val="0"/>
              </a:spcAft>
              <a:buSzPts val="1100"/>
              <a:buNone/>
            </a:pPr>
            <a:r>
              <a:rPr lang="es-MX" sz="1600">
                <a:solidFill>
                  <a:schemeClr val="dk1"/>
                </a:solidFill>
                <a:latin typeface="Work Sans Light"/>
                <a:ea typeface="Work Sans Light"/>
                <a:cs typeface="Work Sans Light"/>
                <a:sym typeface="Work Sans Light"/>
              </a:rPr>
              <a:t>En CediPlus, las actividades se gestionan de manera verbal: una persona identifica una necesidad y comunica la instrucción a la persona encargada. Esta asume la responsabilidad y ejecuta la tarea con los recursos disponibles. El seguimiento se realiza de forma informal, sin registros escritos, con el solicitante preguntando por avances. Al terminar, el encargado avisa verbalmente, y el solicitante </a:t>
            </a:r>
            <a:r>
              <a:rPr lang="es-MX" sz="1600">
                <a:solidFill>
                  <a:schemeClr val="dk1"/>
                </a:solidFill>
                <a:latin typeface="Work Sans Light"/>
                <a:ea typeface="Work Sans Light"/>
                <a:cs typeface="Work Sans Light"/>
                <a:sym typeface="Work Sans Light"/>
              </a:rPr>
              <a:t>válida</a:t>
            </a:r>
            <a:r>
              <a:rPr lang="es-MX" sz="1600">
                <a:solidFill>
                  <a:schemeClr val="dk1"/>
                </a:solidFill>
                <a:latin typeface="Work Sans Light"/>
                <a:ea typeface="Work Sans Light"/>
                <a:cs typeface="Work Sans Light"/>
                <a:sym typeface="Work Sans Light"/>
              </a:rPr>
              <a:t> y cierra la actividad.</a:t>
            </a:r>
            <a:endParaRPr sz="1600">
              <a:solidFill>
                <a:schemeClr val="dk1"/>
              </a:solidFill>
              <a:latin typeface="Work Sans Light"/>
              <a:ea typeface="Work Sans Light"/>
              <a:cs typeface="Work Sans Light"/>
              <a:sym typeface="Work Sans Light"/>
            </a:endParaRPr>
          </a:p>
        </p:txBody>
      </p:sp>
      <p:sp>
        <p:nvSpPr>
          <p:cNvPr id="147" name="Google Shape;147;p22"/>
          <p:cNvSpPr txBox="1"/>
          <p:nvPr/>
        </p:nvSpPr>
        <p:spPr>
          <a:xfrm>
            <a:off x="6456045" y="3429635"/>
            <a:ext cx="5330190" cy="2308860"/>
          </a:xfrm>
          <a:prstGeom prst="rect">
            <a:avLst/>
          </a:prstGeom>
          <a:noFill/>
          <a:ln>
            <a:noFill/>
          </a:ln>
        </p:spPr>
        <p:txBody>
          <a:bodyPr spcFirstLastPara="1" wrap="square" lIns="91425" tIns="45700" rIns="91425" bIns="45700" anchor="t" anchorCtr="0">
            <a:noAutofit/>
          </a:bodyPr>
          <a:lstStyle/>
          <a:p>
            <a:pPr marL="0" marR="0" lvl="0" indent="0" algn="just" rtl="0">
              <a:spcBef>
                <a:spcPts val="0"/>
              </a:spcBef>
              <a:spcAft>
                <a:spcPts val="0"/>
              </a:spcAft>
              <a:buNone/>
            </a:pPr>
            <a:r>
              <a:rPr lang="es-MX" sz="1600">
                <a:solidFill>
                  <a:schemeClr val="dk1"/>
                </a:solidFill>
                <a:latin typeface="Work Sans Light"/>
                <a:ea typeface="Work Sans Light"/>
                <a:cs typeface="Work Sans Light"/>
                <a:sym typeface="Work Sans Light"/>
              </a:rPr>
              <a:t>La gestión administrativa actual tiene deficiencias clave: no hay un sistema centralizado de seguimiento, lo que causa pérdidas de fechas y duplicación de esfuerzos; la comunicación interna es fragmentada y depende de canales informales; la evaluación de desempeño carece de criterios objetivos; los informes manuales provocan retrasos y errores en las decisiones; y la falta de visibilidad dificulta una planificación proactiva.</a:t>
            </a:r>
            <a:endParaRPr lang="es-MX" sz="1600">
              <a:solidFill>
                <a:schemeClr val="dk1"/>
              </a:solidFill>
              <a:latin typeface="Work Sans Light"/>
              <a:ea typeface="Work Sans Light"/>
              <a:cs typeface="Work Sans Light"/>
              <a:sym typeface="Work Sans Light"/>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53" name="Shape 153"/>
        <p:cNvGrpSpPr/>
        <p:nvPr/>
      </p:nvGrpSpPr>
      <p:grpSpPr>
        <a:xfrm>
          <a:off x="0" y="0"/>
          <a:ext cx="0" cy="0"/>
          <a:chOff x="0" y="0"/>
          <a:chExt cx="0" cy="0"/>
        </a:xfrm>
      </p:grpSpPr>
      <p:sp>
        <p:nvSpPr>
          <p:cNvPr id="154" name="Google Shape;154;p23"/>
          <p:cNvSpPr/>
          <p:nvPr/>
        </p:nvSpPr>
        <p:spPr>
          <a:xfrm>
            <a:off x="1314092" y="490615"/>
            <a:ext cx="3527400" cy="3471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155" name="Google Shape;155;p23"/>
          <p:cNvSpPr txBox="1"/>
          <p:nvPr/>
        </p:nvSpPr>
        <p:spPr>
          <a:xfrm>
            <a:off x="1039233" y="256198"/>
            <a:ext cx="4077000" cy="676500"/>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rgbClr val="38AA00"/>
              </a:buClr>
              <a:buSzPts val="3200"/>
              <a:buFont typeface="Work Sans Light"/>
              <a:buNone/>
            </a:pPr>
            <a:r>
              <a:rPr lang="es-MX" sz="3200">
                <a:solidFill>
                  <a:srgbClr val="38AA00"/>
                </a:solidFill>
                <a:latin typeface="Work Sans Light"/>
                <a:ea typeface="Work Sans Light"/>
                <a:cs typeface="Work Sans Light"/>
                <a:sym typeface="Work Sans Light"/>
              </a:rPr>
              <a:t>Objetivo General</a:t>
            </a:r>
            <a:endParaRPr lang="es-MX" sz="3200">
              <a:solidFill>
                <a:srgbClr val="38AA00"/>
              </a:solidFill>
              <a:latin typeface="Work Sans Light"/>
              <a:ea typeface="Work Sans Light"/>
              <a:cs typeface="Work Sans Light"/>
              <a:sym typeface="Work Sans Light"/>
            </a:endParaRPr>
          </a:p>
        </p:txBody>
      </p:sp>
      <p:sp>
        <p:nvSpPr>
          <p:cNvPr id="156" name="Google Shape;156;p23"/>
          <p:cNvSpPr txBox="1"/>
          <p:nvPr/>
        </p:nvSpPr>
        <p:spPr>
          <a:xfrm>
            <a:off x="391376" y="1177500"/>
            <a:ext cx="5372700" cy="1323600"/>
          </a:xfrm>
          <a:prstGeom prst="rect">
            <a:avLst/>
          </a:prstGeom>
          <a:noFill/>
          <a:ln>
            <a:noFill/>
          </a:ln>
        </p:spPr>
        <p:txBody>
          <a:bodyPr spcFirstLastPara="1" wrap="square" lIns="91425" tIns="45700" rIns="91425" bIns="45700" anchor="t" anchorCtr="0">
            <a:spAutoFit/>
          </a:bodyPr>
          <a:lstStyle/>
          <a:p>
            <a:pPr marL="0" marR="0" lvl="0" indent="0" algn="just" rtl="0">
              <a:spcBef>
                <a:spcPts val="0"/>
              </a:spcBef>
              <a:spcAft>
                <a:spcPts val="0"/>
              </a:spcAft>
              <a:buNone/>
            </a:pPr>
            <a:r>
              <a:rPr lang="es-MX" sz="1600">
                <a:solidFill>
                  <a:schemeClr val="dk1"/>
                </a:solidFill>
                <a:latin typeface="Work Sans Light"/>
                <a:ea typeface="Work Sans Light"/>
                <a:cs typeface="Work Sans Light"/>
                <a:sym typeface="Work Sans Light"/>
              </a:rPr>
              <a:t>Desarrollar un sistema de información web llamado Alphamind que sirva como apoyo a la optimización de actividades, seguimiento de tareas, brindando reportes y ofreciendo la integración de un chat a la empresa Cediplus.</a:t>
            </a:r>
            <a:endParaRPr sz="1600">
              <a:solidFill>
                <a:schemeClr val="dk1"/>
              </a:solidFill>
              <a:latin typeface="Work Sans Light"/>
              <a:ea typeface="Work Sans Light"/>
              <a:cs typeface="Work Sans Light"/>
              <a:sym typeface="Work Sans Light"/>
            </a:endParaRPr>
          </a:p>
        </p:txBody>
      </p:sp>
      <p:sp>
        <p:nvSpPr>
          <p:cNvPr id="157" name="Google Shape;157;p23"/>
          <p:cNvSpPr/>
          <p:nvPr/>
        </p:nvSpPr>
        <p:spPr>
          <a:xfrm>
            <a:off x="994678" y="2966594"/>
            <a:ext cx="4166100" cy="347100"/>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158" name="Google Shape;158;p23"/>
          <p:cNvSpPr txBox="1"/>
          <p:nvPr/>
        </p:nvSpPr>
        <p:spPr>
          <a:xfrm>
            <a:off x="994678" y="2702173"/>
            <a:ext cx="40770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200"/>
              <a:buFont typeface="Work Sans Light"/>
              <a:buNone/>
            </a:pPr>
            <a:r>
              <a:rPr lang="es-MX" sz="3200">
                <a:solidFill>
                  <a:srgbClr val="38AA00"/>
                </a:solidFill>
                <a:latin typeface="Work Sans Light"/>
                <a:ea typeface="Work Sans Light"/>
                <a:cs typeface="Work Sans Light"/>
                <a:sym typeface="Work Sans Light"/>
              </a:rPr>
              <a:t>Objetivo Específicos</a:t>
            </a:r>
            <a:endParaRPr lang="es-MX" sz="3200">
              <a:solidFill>
                <a:srgbClr val="38AA00"/>
              </a:solidFill>
              <a:latin typeface="Work Sans Light"/>
              <a:ea typeface="Work Sans Light"/>
              <a:cs typeface="Work Sans Light"/>
              <a:sym typeface="Work Sans Light"/>
            </a:endParaRPr>
          </a:p>
        </p:txBody>
      </p:sp>
      <p:sp>
        <p:nvSpPr>
          <p:cNvPr id="159" name="Google Shape;159;p23"/>
          <p:cNvSpPr txBox="1"/>
          <p:nvPr/>
        </p:nvSpPr>
        <p:spPr>
          <a:xfrm>
            <a:off x="119265" y="3789275"/>
            <a:ext cx="5274300" cy="2305685"/>
          </a:xfrm>
          <a:prstGeom prst="rect">
            <a:avLst/>
          </a:prstGeom>
          <a:noFill/>
          <a:ln>
            <a:noFill/>
          </a:ln>
        </p:spPr>
        <p:txBody>
          <a:bodyPr spcFirstLastPara="1" wrap="square" lIns="91425" tIns="45700" rIns="91425" bIns="45700" anchor="t" anchorCtr="0">
            <a:spAutoFit/>
          </a:bodyPr>
          <a:lstStyle/>
          <a:p>
            <a:pPr marL="457200" marR="0" lvl="0" indent="-330200" algn="l" rtl="0">
              <a:spcBef>
                <a:spcPts val="0"/>
              </a:spcBef>
              <a:spcAft>
                <a:spcPts val="0"/>
              </a:spcAft>
              <a:buClr>
                <a:schemeClr val="dk1"/>
              </a:buClr>
              <a:buSzPts val="1600"/>
              <a:buFont typeface="Work Sans Light"/>
              <a:buChar char="●"/>
            </a:pPr>
            <a:r>
              <a:rPr lang="es-MX" sz="1600">
                <a:solidFill>
                  <a:schemeClr val="dk1"/>
                </a:solidFill>
                <a:latin typeface="Work Sans Light"/>
                <a:ea typeface="Work Sans Light"/>
                <a:cs typeface="Work Sans Light"/>
                <a:sym typeface="Work Sans Light"/>
              </a:rPr>
              <a:t>Desarrollar el modulo usuarios del sistema de información Alphamind </a:t>
            </a:r>
            <a:endParaRPr lang="es-MX" sz="1600">
              <a:solidFill>
                <a:schemeClr val="dk1"/>
              </a:solidFill>
              <a:latin typeface="Work Sans Light"/>
              <a:ea typeface="Work Sans Light"/>
              <a:cs typeface="Work Sans Light"/>
              <a:sym typeface="Work Sans Light"/>
            </a:endParaRPr>
          </a:p>
          <a:p>
            <a:pPr marL="457200" marR="0" lvl="0" indent="-330200" algn="l" rtl="0">
              <a:spcBef>
                <a:spcPts val="0"/>
              </a:spcBef>
              <a:spcAft>
                <a:spcPts val="0"/>
              </a:spcAft>
              <a:buClr>
                <a:schemeClr val="dk1"/>
              </a:buClr>
              <a:buSzPts val="1600"/>
              <a:buFont typeface="Work Sans Light"/>
              <a:buChar char="●"/>
            </a:pPr>
            <a:r>
              <a:rPr lang="es-MX" sz="1600">
                <a:solidFill>
                  <a:schemeClr val="dk1"/>
                </a:solidFill>
                <a:latin typeface="Work Sans Light"/>
                <a:ea typeface="Work Sans Light"/>
                <a:cs typeface="Work Sans Light"/>
                <a:sym typeface="Work Sans Light"/>
              </a:rPr>
              <a:t>Desarrollar el modulo de asignación y el seguimiento de actividades del sistema de infromacion Alphamind.</a:t>
            </a:r>
            <a:endParaRPr sz="1600">
              <a:solidFill>
                <a:schemeClr val="dk1"/>
              </a:solidFill>
              <a:latin typeface="Work Sans Light"/>
              <a:ea typeface="Work Sans Light"/>
              <a:cs typeface="Work Sans Light"/>
              <a:sym typeface="Work Sans Light"/>
            </a:endParaRPr>
          </a:p>
          <a:p>
            <a:pPr marL="457200" marR="0" lvl="0" indent="-330200" algn="l" rtl="0">
              <a:spcBef>
                <a:spcPts val="0"/>
              </a:spcBef>
              <a:spcAft>
                <a:spcPts val="0"/>
              </a:spcAft>
              <a:buClr>
                <a:schemeClr val="dk1"/>
              </a:buClr>
              <a:buSzPts val="1600"/>
              <a:buFont typeface="Work Sans Light"/>
              <a:buChar char="●"/>
            </a:pPr>
            <a:r>
              <a:rPr lang="es-MX" sz="1600">
                <a:solidFill>
                  <a:schemeClr val="dk1"/>
                </a:solidFill>
                <a:latin typeface="Work Sans Light"/>
                <a:ea typeface="Work Sans Light"/>
                <a:cs typeface="Work Sans Light"/>
                <a:sym typeface="Work Sans Light"/>
              </a:rPr>
              <a:t>Desarrollar el modulo de comunicación interna del </a:t>
            </a:r>
            <a:r>
              <a:rPr lang="es-MX" sz="1600">
                <a:solidFill>
                  <a:schemeClr val="dk1"/>
                </a:solidFill>
                <a:latin typeface="Work Sans Light"/>
                <a:ea typeface="Work Sans Light"/>
                <a:cs typeface="Work Sans Light"/>
                <a:sym typeface="Work Sans Light"/>
              </a:rPr>
              <a:t>sistema de infromacion Alphamind</a:t>
            </a:r>
            <a:endParaRPr lang="es-MX" sz="1600">
              <a:solidFill>
                <a:schemeClr val="dk1"/>
              </a:solidFill>
              <a:latin typeface="Work Sans Light"/>
              <a:ea typeface="Work Sans Light"/>
              <a:cs typeface="Work Sans Light"/>
              <a:sym typeface="Work Sans Light"/>
            </a:endParaRPr>
          </a:p>
          <a:p>
            <a:pPr marL="457200" marR="0" lvl="0" indent="-330200" algn="l" rtl="0">
              <a:spcBef>
                <a:spcPts val="0"/>
              </a:spcBef>
              <a:spcAft>
                <a:spcPts val="0"/>
              </a:spcAft>
              <a:buClr>
                <a:schemeClr val="dk1"/>
              </a:buClr>
              <a:buSzPts val="1600"/>
              <a:buFont typeface="Work Sans Light"/>
              <a:buChar char="●"/>
            </a:pPr>
            <a:r>
              <a:rPr lang="es-MX" sz="1600">
                <a:solidFill>
                  <a:schemeClr val="dk1"/>
                </a:solidFill>
                <a:latin typeface="Work Sans Light"/>
                <a:ea typeface="Work Sans Light"/>
                <a:cs typeface="Work Sans Light"/>
                <a:sym typeface="Work Sans Light"/>
              </a:rPr>
              <a:t>Desarrollar el modulo de reportes graficos e impresos del </a:t>
            </a:r>
            <a:r>
              <a:rPr lang="es-MX" sz="1600">
                <a:solidFill>
                  <a:schemeClr val="dk1"/>
                </a:solidFill>
                <a:latin typeface="Work Sans Light"/>
                <a:ea typeface="Work Sans Light"/>
                <a:cs typeface="Work Sans Light"/>
                <a:sym typeface="Work Sans Light"/>
              </a:rPr>
              <a:t>sistema de infromacion Alphamind</a:t>
            </a:r>
            <a:endParaRPr lang="es-MX" sz="1600">
              <a:solidFill>
                <a:schemeClr val="dk1"/>
              </a:solidFill>
              <a:latin typeface="Work Sans Light"/>
              <a:ea typeface="Work Sans Light"/>
              <a:cs typeface="Work Sans Light"/>
              <a:sym typeface="Work Sans Light"/>
            </a:endParaRPr>
          </a:p>
        </p:txBody>
      </p:sp>
      <p:pic>
        <p:nvPicPr>
          <p:cNvPr id="160" name="Google Shape;160;p23" descr="Un grupo de personas frente a una televisión encendida&#10;&#10;El contenido generado por IA puede ser incorrecto."/>
          <p:cNvPicPr preferRelativeResize="0"/>
          <p:nvPr/>
        </p:nvPicPr>
        <p:blipFill rotWithShape="1">
          <a:blip r:embed="rId1"/>
          <a:srcRect l="23977" r="5605"/>
          <a:stretch>
            <a:fillRect/>
          </a:stretch>
        </p:blipFill>
        <p:spPr>
          <a:xfrm>
            <a:off x="6033600" y="0"/>
            <a:ext cx="6158400" cy="68580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64" name="Shape 164"/>
        <p:cNvGrpSpPr/>
        <p:nvPr/>
      </p:nvGrpSpPr>
      <p:grpSpPr>
        <a:xfrm>
          <a:off x="0" y="0"/>
          <a:ext cx="0" cy="0"/>
          <a:chOff x="0" y="0"/>
          <a:chExt cx="0" cy="0"/>
        </a:xfrm>
      </p:grpSpPr>
      <p:sp>
        <p:nvSpPr>
          <p:cNvPr id="165" name="Google Shape;165;p24"/>
          <p:cNvSpPr txBox="1"/>
          <p:nvPr>
            <p:ph type="title"/>
          </p:nvPr>
        </p:nvSpPr>
        <p:spPr>
          <a:xfrm>
            <a:off x="456236" y="11048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Justificación</a:t>
            </a:r>
            <a:endParaRPr>
              <a:solidFill>
                <a:schemeClr val="lt1"/>
              </a:solidFill>
              <a:latin typeface="Work Sans Medium"/>
              <a:ea typeface="Work Sans Medium"/>
              <a:cs typeface="Work Sans Medium"/>
              <a:sym typeface="Work Sans Medium"/>
            </a:endParaRPr>
          </a:p>
        </p:txBody>
      </p:sp>
      <p:sp>
        <p:nvSpPr>
          <p:cNvPr id="166" name="Google Shape;166;p24"/>
          <p:cNvSpPr txBox="1"/>
          <p:nvPr/>
        </p:nvSpPr>
        <p:spPr>
          <a:xfrm>
            <a:off x="692725" y="2187475"/>
            <a:ext cx="5406900" cy="3294000"/>
          </a:xfrm>
          <a:prstGeom prst="rect">
            <a:avLst/>
          </a:prstGeom>
          <a:noFill/>
          <a:ln>
            <a:noFill/>
          </a:ln>
        </p:spPr>
        <p:txBody>
          <a:bodyPr spcFirstLastPara="1" wrap="square" lIns="91425" tIns="45700" rIns="91425" bIns="45700" anchor="t" anchorCtr="0">
            <a:spAutoFit/>
          </a:bodyPr>
          <a:lstStyle/>
          <a:p>
            <a:pPr marL="0" marR="0" lvl="0" indent="0" algn="just" rtl="0">
              <a:spcBef>
                <a:spcPts val="0"/>
              </a:spcBef>
              <a:spcAft>
                <a:spcPts val="0"/>
              </a:spcAft>
              <a:buNone/>
            </a:pPr>
            <a:r>
              <a:rPr lang="es-MX" sz="1600">
                <a:solidFill>
                  <a:schemeClr val="dk1"/>
                </a:solidFill>
                <a:latin typeface="Work Sans Light"/>
                <a:ea typeface="Work Sans Light"/>
                <a:cs typeface="Work Sans Light"/>
                <a:sym typeface="Work Sans Light"/>
              </a:rPr>
              <a:t>El sistema web Alphamind surge como una solución para fortalecer la productividad y la organización en el área administrativa de Cediplus, reconocida por su calidad e innovación en el sector automotriz. Su implementación permitirá asignar tareas con plazos definidos, facilitar la comunicación interna y realizar un seguimiento constante del desempeño del personal. De esta manera, la plataforma contribuirá a mejorar la coordinación entre áreas, optimizar la gestión de actividades y reforzar el control interno en las empresas de revisión técnico-mecánica, representando además un importante avance tecnológico para el sector.</a:t>
            </a:r>
            <a:endParaRPr sz="1600">
              <a:solidFill>
                <a:schemeClr val="dk1"/>
              </a:solidFill>
              <a:latin typeface="Work Sans Light"/>
              <a:ea typeface="Work Sans Light"/>
              <a:cs typeface="Work Sans Light"/>
              <a:sym typeface="Work Sans Light"/>
            </a:endParaRPr>
          </a:p>
        </p:txBody>
      </p:sp>
      <p:pic>
        <p:nvPicPr>
          <p:cNvPr id="167" name="Google Shape;167;p24"/>
          <p:cNvPicPr preferRelativeResize="0"/>
          <p:nvPr/>
        </p:nvPicPr>
        <p:blipFill rotWithShape="1">
          <a:blip r:embed="rId1"/>
          <a:srcRect/>
          <a:stretch>
            <a:fillRect/>
          </a:stretch>
        </p:blipFill>
        <p:spPr>
          <a:xfrm>
            <a:off x="8019201" y="81553"/>
            <a:ext cx="1451120" cy="1334363"/>
          </a:xfrm>
          <a:prstGeom prst="rect">
            <a:avLst/>
          </a:prstGeom>
          <a:noFill/>
          <a:ln>
            <a:noFill/>
          </a:ln>
        </p:spPr>
      </p:pic>
      <p:pic>
        <p:nvPicPr>
          <p:cNvPr id="168" name="Google Shape;168;p24"/>
          <p:cNvPicPr preferRelativeResize="0"/>
          <p:nvPr/>
        </p:nvPicPr>
        <p:blipFill rotWithShape="1">
          <a:blip r:embed="rId2"/>
          <a:srcRect/>
          <a:stretch>
            <a:fillRect/>
          </a:stretch>
        </p:blipFill>
        <p:spPr>
          <a:xfrm>
            <a:off x="9306198" y="312856"/>
            <a:ext cx="1647324" cy="920812"/>
          </a:xfrm>
          <a:prstGeom prst="rect">
            <a:avLst/>
          </a:prstGeom>
          <a:noFill/>
          <a:ln>
            <a:noFill/>
          </a:ln>
        </p:spPr>
      </p:pic>
      <p:pic>
        <p:nvPicPr>
          <p:cNvPr id="169" name="Google Shape;169;p24" descr="Imagen generada"/>
          <p:cNvPicPr preferRelativeResize="0"/>
          <p:nvPr/>
        </p:nvPicPr>
        <p:blipFill rotWithShape="1">
          <a:blip r:embed="rId3"/>
          <a:srcRect/>
          <a:stretch>
            <a:fillRect/>
          </a:stretch>
        </p:blipFill>
        <p:spPr>
          <a:xfrm>
            <a:off x="6785113" y="1464972"/>
            <a:ext cx="5406887" cy="540688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73" name="Shape 173"/>
        <p:cNvGrpSpPr/>
        <p:nvPr/>
      </p:nvGrpSpPr>
      <p:grpSpPr>
        <a:xfrm>
          <a:off x="0" y="0"/>
          <a:ext cx="0" cy="0"/>
          <a:chOff x="0" y="0"/>
          <a:chExt cx="0" cy="0"/>
        </a:xfrm>
      </p:grpSpPr>
      <p:sp>
        <p:nvSpPr>
          <p:cNvPr id="174" name="Google Shape;174;p25"/>
          <p:cNvSpPr txBox="1"/>
          <p:nvPr>
            <p:ph type="title"/>
          </p:nvPr>
        </p:nvSpPr>
        <p:spPr>
          <a:xfrm>
            <a:off x="456236" y="11048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Alcance</a:t>
            </a:r>
            <a:endParaRPr>
              <a:solidFill>
                <a:schemeClr val="lt1"/>
              </a:solidFill>
              <a:latin typeface="Work Sans Medium"/>
              <a:ea typeface="Work Sans Medium"/>
              <a:cs typeface="Work Sans Medium"/>
              <a:sym typeface="Work Sans Medium"/>
            </a:endParaRPr>
          </a:p>
        </p:txBody>
      </p:sp>
      <p:sp>
        <p:nvSpPr>
          <p:cNvPr id="175" name="Google Shape;175;p25"/>
          <p:cNvSpPr txBox="1"/>
          <p:nvPr/>
        </p:nvSpPr>
        <p:spPr>
          <a:xfrm>
            <a:off x="973015" y="2274277"/>
            <a:ext cx="10515600" cy="2801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MX" sz="1600">
                <a:solidFill>
                  <a:schemeClr val="dk1"/>
                </a:solidFill>
                <a:latin typeface="Work Sans Light"/>
                <a:ea typeface="Work Sans Light"/>
                <a:cs typeface="Work Sans Light"/>
                <a:sym typeface="Work Sans Light"/>
              </a:rPr>
              <a:t>El sistema Alphamind permitirá asignar tareas, realizar seguimiento del progreso,  gestionar la comunicación entre empleados. Los usuarios podrán visualizar, actualizar y categorizar sus tareas. El administrador podrá controlar accesos, roles y monitorear el rendimiento del equipo.</a:t>
            </a:r>
            <a:endParaRPr lang="es-MX" sz="160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MX" sz="1600">
                <a:solidFill>
                  <a:schemeClr val="dk1"/>
                </a:solidFill>
                <a:latin typeface="Work Sans Light"/>
                <a:ea typeface="Work Sans Light"/>
                <a:cs typeface="Work Sans Light"/>
                <a:sym typeface="Work Sans Light"/>
              </a:rPr>
              <a:t>El sistema no incluirá funciones de facturación, gestión contable, ni control de inventarios, ya que su enfoque es exclusivamente la administración de tareas internas.</a:t>
            </a:r>
            <a:endParaRPr lang="es-MX" sz="160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MX" sz="1600">
                <a:solidFill>
                  <a:schemeClr val="dk1"/>
                </a:solidFill>
                <a:latin typeface="Work Sans Light"/>
                <a:ea typeface="Work Sans Light"/>
                <a:cs typeface="Work Sans Light"/>
                <a:sym typeface="Work Sans Light"/>
              </a:rPr>
              <a:t>Se desarrollará bajo una arquitectura cliente-servidor, utilizando Node.js (24.4.1) como framework backend, MySQL (8.4.6) como gestor de base de datos y HTML, CSS, </a:t>
            </a:r>
            <a:r>
              <a:rPr lang="es-MX" sz="1600">
                <a:solidFill>
                  <a:schemeClr val="dk1"/>
                </a:solidFill>
                <a:latin typeface="Work Sans Light"/>
                <a:ea typeface="Work Sans Light"/>
                <a:cs typeface="Work Sans Light"/>
                <a:sym typeface="Work Sans Light"/>
              </a:rPr>
              <a:t>Bootstrap (5.3.8) y React</a:t>
            </a:r>
            <a:r>
              <a:rPr lang="es-MX" sz="1600">
                <a:solidFill>
                  <a:schemeClr val="dk1"/>
                </a:solidFill>
                <a:latin typeface="Work Sans Light"/>
                <a:ea typeface="Work Sans Light"/>
                <a:cs typeface="Work Sans Light"/>
                <a:sym typeface="Work Sans Light"/>
              </a:rPr>
              <a:t> (19.1.1) para el diseño del frontend. También se implementarán sesiones y conexión a servidor local.</a:t>
            </a:r>
            <a:endParaRPr lang="es-MX" sz="1600">
              <a:solidFill>
                <a:schemeClr val="dk1"/>
              </a:solidFill>
              <a:latin typeface="Work Sans Light"/>
              <a:ea typeface="Work Sans Light"/>
              <a:cs typeface="Work Sans Light"/>
              <a:sym typeface="Work Sans Light"/>
            </a:endParaRPr>
          </a:p>
        </p:txBody>
      </p:sp>
      <p:pic>
        <p:nvPicPr>
          <p:cNvPr id="176" name="Google Shape;176;p25"/>
          <p:cNvPicPr preferRelativeResize="0"/>
          <p:nvPr/>
        </p:nvPicPr>
        <p:blipFill rotWithShape="1">
          <a:blip r:embed="rId1"/>
          <a:srcRect/>
          <a:stretch>
            <a:fillRect/>
          </a:stretch>
        </p:blipFill>
        <p:spPr>
          <a:xfrm>
            <a:off x="8019201" y="7929"/>
            <a:ext cx="1451120" cy="1334363"/>
          </a:xfrm>
          <a:prstGeom prst="rect">
            <a:avLst/>
          </a:prstGeom>
          <a:noFill/>
          <a:ln>
            <a:noFill/>
          </a:ln>
        </p:spPr>
      </p:pic>
      <p:pic>
        <p:nvPicPr>
          <p:cNvPr id="177" name="Google Shape;177;p25"/>
          <p:cNvPicPr preferRelativeResize="0"/>
          <p:nvPr/>
        </p:nvPicPr>
        <p:blipFill rotWithShape="1">
          <a:blip r:embed="rId2"/>
          <a:srcRect/>
          <a:stretch>
            <a:fillRect/>
          </a:stretch>
        </p:blipFill>
        <p:spPr>
          <a:xfrm>
            <a:off x="9306198" y="214705"/>
            <a:ext cx="1647324" cy="920812"/>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81" name="Shape 181"/>
        <p:cNvGrpSpPr/>
        <p:nvPr/>
      </p:nvGrpSpPr>
      <p:grpSpPr>
        <a:xfrm>
          <a:off x="0" y="0"/>
          <a:ext cx="0" cy="0"/>
          <a:chOff x="0" y="0"/>
          <a:chExt cx="0" cy="0"/>
        </a:xfrm>
      </p:grpSpPr>
      <p:sp>
        <p:nvSpPr>
          <p:cNvPr id="182" name="Google Shape;182;p26"/>
          <p:cNvSpPr txBox="1"/>
          <p:nvPr>
            <p:ph type="title"/>
          </p:nvPr>
        </p:nvSpPr>
        <p:spPr>
          <a:xfrm>
            <a:off x="456236" y="11048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4400"/>
              <a:buFont typeface="Work Sans Medium"/>
              <a:buNone/>
            </a:pPr>
            <a:r>
              <a:rPr lang="es-MX">
                <a:solidFill>
                  <a:schemeClr val="lt1"/>
                </a:solidFill>
                <a:latin typeface="Work Sans Medium"/>
                <a:ea typeface="Work Sans Medium"/>
                <a:cs typeface="Work Sans Medium"/>
                <a:sym typeface="Work Sans Medium"/>
              </a:rPr>
              <a:t>Delimitación</a:t>
            </a:r>
            <a:endParaRPr>
              <a:solidFill>
                <a:schemeClr val="lt1"/>
              </a:solidFill>
              <a:latin typeface="Work Sans Medium"/>
              <a:ea typeface="Work Sans Medium"/>
              <a:cs typeface="Work Sans Medium"/>
              <a:sym typeface="Work Sans Medium"/>
            </a:endParaRPr>
          </a:p>
        </p:txBody>
      </p:sp>
      <p:pic>
        <p:nvPicPr>
          <p:cNvPr id="183" name="Google Shape;183;p26"/>
          <p:cNvPicPr preferRelativeResize="0"/>
          <p:nvPr/>
        </p:nvPicPr>
        <p:blipFill rotWithShape="1">
          <a:blip r:embed="rId1"/>
          <a:srcRect/>
          <a:stretch>
            <a:fillRect/>
          </a:stretch>
        </p:blipFill>
        <p:spPr>
          <a:xfrm>
            <a:off x="8112986" y="101681"/>
            <a:ext cx="1451120" cy="1334363"/>
          </a:xfrm>
          <a:prstGeom prst="rect">
            <a:avLst/>
          </a:prstGeom>
          <a:noFill/>
          <a:ln>
            <a:noFill/>
          </a:ln>
        </p:spPr>
      </p:pic>
      <p:pic>
        <p:nvPicPr>
          <p:cNvPr id="184" name="Google Shape;184;p26"/>
          <p:cNvPicPr preferRelativeResize="0"/>
          <p:nvPr/>
        </p:nvPicPr>
        <p:blipFill rotWithShape="1">
          <a:blip r:embed="rId2"/>
          <a:srcRect/>
          <a:stretch>
            <a:fillRect/>
          </a:stretch>
        </p:blipFill>
        <p:spPr>
          <a:xfrm>
            <a:off x="9324512" y="308456"/>
            <a:ext cx="1647324" cy="920812"/>
          </a:xfrm>
          <a:prstGeom prst="rect">
            <a:avLst/>
          </a:prstGeom>
          <a:noFill/>
          <a:ln>
            <a:noFill/>
          </a:ln>
        </p:spPr>
      </p:pic>
      <p:pic>
        <p:nvPicPr>
          <p:cNvPr id="185" name="Google Shape;185;p26"/>
          <p:cNvPicPr preferRelativeResize="0"/>
          <p:nvPr/>
        </p:nvPicPr>
        <p:blipFill>
          <a:blip r:embed="rId3"/>
          <a:stretch>
            <a:fillRect/>
          </a:stretch>
        </p:blipFill>
        <p:spPr>
          <a:xfrm>
            <a:off x="221375" y="2268344"/>
            <a:ext cx="11887198" cy="3368146"/>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90" name="Shape 190"/>
        <p:cNvGrpSpPr/>
        <p:nvPr/>
      </p:nvGrpSpPr>
      <p:grpSpPr>
        <a:xfrm>
          <a:off x="0" y="0"/>
          <a:ext cx="0" cy="0"/>
          <a:chOff x="0" y="0"/>
          <a:chExt cx="0" cy="0"/>
        </a:xfrm>
      </p:grpSpPr>
      <p:sp>
        <p:nvSpPr>
          <p:cNvPr id="191" name="Google Shape;191;p27"/>
          <p:cNvSpPr txBox="1"/>
          <p:nvPr>
            <p:ph type="title"/>
          </p:nvPr>
        </p:nvSpPr>
        <p:spPr>
          <a:xfrm>
            <a:off x="456236" y="11048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3200"/>
              <a:buFont typeface="Work Sans Medium"/>
              <a:buNone/>
            </a:pPr>
            <a:r>
              <a:rPr lang="es-MX" sz="3200">
                <a:solidFill>
                  <a:schemeClr val="lt1"/>
                </a:solidFill>
                <a:latin typeface="Work Sans Medium"/>
                <a:ea typeface="Work Sans Medium"/>
                <a:cs typeface="Work Sans Medium"/>
                <a:sym typeface="Work Sans Medium"/>
              </a:rPr>
              <a:t>Entregables Proyecto Formativo</a:t>
            </a:r>
            <a:br>
              <a:rPr lang="es-MX" sz="3200">
                <a:solidFill>
                  <a:schemeClr val="lt1"/>
                </a:solidFill>
                <a:latin typeface="Work Sans Medium"/>
                <a:ea typeface="Work Sans Medium"/>
                <a:cs typeface="Work Sans Medium"/>
                <a:sym typeface="Work Sans Medium"/>
              </a:rPr>
            </a:br>
            <a:r>
              <a:rPr lang="es-MX" sz="3200">
                <a:solidFill>
                  <a:schemeClr val="lt1"/>
                </a:solidFill>
                <a:latin typeface="Work Sans Medium"/>
                <a:ea typeface="Work Sans Medium"/>
                <a:cs typeface="Work Sans Medium"/>
                <a:sym typeface="Work Sans Medium"/>
              </a:rPr>
              <a:t>por Trimestre</a:t>
            </a:r>
            <a:endParaRPr sz="3200">
              <a:solidFill>
                <a:schemeClr val="lt1"/>
              </a:solidFill>
              <a:latin typeface="Work Sans Medium"/>
              <a:ea typeface="Work Sans Medium"/>
              <a:cs typeface="Work Sans Medium"/>
              <a:sym typeface="Work Sans Medium"/>
            </a:endParaRPr>
          </a:p>
        </p:txBody>
      </p:sp>
      <p:sp>
        <p:nvSpPr>
          <p:cNvPr id="192" name="Google Shape;192;p27"/>
          <p:cNvSpPr txBox="1"/>
          <p:nvPr/>
        </p:nvSpPr>
        <p:spPr>
          <a:xfrm>
            <a:off x="952878" y="2069421"/>
            <a:ext cx="2800357" cy="1600438"/>
          </a:xfrm>
          <a:prstGeom prst="rect">
            <a:avLst/>
          </a:prstGeom>
          <a:noFill/>
          <a:ln>
            <a:noFill/>
          </a:ln>
        </p:spPr>
        <p:txBody>
          <a:bodyPr spcFirstLastPara="1" wrap="square" lIns="91425" tIns="45700" rIns="91425" bIns="45700" anchor="t" anchorCtr="0">
            <a:spAutoFit/>
          </a:bodyPr>
          <a:lstStyle/>
          <a:p>
            <a:pPr marL="171450" marR="0" lvl="0" indent="-171450" algn="l" rtl="0">
              <a:spcBef>
                <a:spcPts val="0"/>
              </a:spcBef>
              <a:spcAft>
                <a:spcPts val="0"/>
              </a:spcAft>
              <a:buClr>
                <a:schemeClr val="dk1"/>
              </a:buClr>
              <a:buSzPts val="1400"/>
              <a:buFont typeface="Arial" panose="020B0604020202020204"/>
              <a:buChar char="•"/>
            </a:pPr>
            <a:r>
              <a:rPr lang="es-MX" sz="1400">
                <a:solidFill>
                  <a:schemeClr val="dk1"/>
                </a:solidFill>
                <a:latin typeface="Work Sans Light"/>
                <a:ea typeface="Work Sans Light"/>
                <a:cs typeface="Work Sans Light"/>
                <a:sym typeface="Work Sans Light"/>
              </a:rPr>
              <a:t>Contextualización</a:t>
            </a:r>
            <a:endParaRPr lang="es-MX" sz="1400">
              <a:solidFill>
                <a:schemeClr val="dk1"/>
              </a:solidFill>
              <a:latin typeface="Work Sans Light"/>
              <a:ea typeface="Work Sans Light"/>
              <a:cs typeface="Work Sans Light"/>
              <a:sym typeface="Work Sans Light"/>
            </a:endParaRPr>
          </a:p>
          <a:p>
            <a:pPr marL="171450" marR="0" lvl="0" indent="-171450" algn="l" rtl="0">
              <a:spcBef>
                <a:spcPts val="0"/>
              </a:spcBef>
              <a:spcAft>
                <a:spcPts val="0"/>
              </a:spcAft>
              <a:buClr>
                <a:schemeClr val="dk1"/>
              </a:buClr>
              <a:buSzPts val="1400"/>
              <a:buFont typeface="Arial" panose="020B0604020202020204"/>
              <a:buChar char="•"/>
            </a:pPr>
            <a:r>
              <a:rPr lang="es-MX" sz="1400" u="sng">
                <a:solidFill>
                  <a:schemeClr val="hlink"/>
                </a:solidFill>
                <a:latin typeface="Work Sans Light"/>
                <a:ea typeface="Work Sans Light"/>
                <a:cs typeface="Work Sans Light"/>
                <a:sym typeface="Work Sans Light"/>
                <a:hlinkClick r:id="rId1"/>
              </a:rPr>
              <a:t>Mapa de procesos</a:t>
            </a:r>
            <a:endParaRPr sz="1400">
              <a:solidFill>
                <a:schemeClr val="dk1"/>
              </a:solidFill>
              <a:latin typeface="Work Sans Light"/>
              <a:ea typeface="Work Sans Light"/>
              <a:cs typeface="Work Sans Light"/>
              <a:sym typeface="Work Sans Light"/>
            </a:endParaRPr>
          </a:p>
          <a:p>
            <a:pPr marL="171450" marR="0" lvl="0" indent="-171450" algn="l" rtl="0">
              <a:spcBef>
                <a:spcPts val="0"/>
              </a:spcBef>
              <a:spcAft>
                <a:spcPts val="0"/>
              </a:spcAft>
              <a:buClr>
                <a:schemeClr val="dk1"/>
              </a:buClr>
              <a:buSzPts val="1400"/>
              <a:buFont typeface="Arial" panose="020B0604020202020204"/>
              <a:buChar char="•"/>
            </a:pPr>
            <a:r>
              <a:rPr lang="es-MX" sz="1400" u="sng">
                <a:solidFill>
                  <a:schemeClr val="hlink"/>
                </a:solidFill>
                <a:latin typeface="Work Sans Light"/>
                <a:ea typeface="Work Sans Light"/>
                <a:cs typeface="Work Sans Light"/>
                <a:sym typeface="Work Sans Light"/>
                <a:hlinkClick r:id="rId2"/>
              </a:rPr>
              <a:t>Recolección de Información</a:t>
            </a:r>
            <a:endParaRPr sz="1400">
              <a:solidFill>
                <a:schemeClr val="dk1"/>
              </a:solidFill>
              <a:latin typeface="Work Sans Light"/>
              <a:ea typeface="Work Sans Light"/>
              <a:cs typeface="Work Sans Light"/>
              <a:sym typeface="Work Sans Light"/>
            </a:endParaRPr>
          </a:p>
          <a:p>
            <a:pPr marL="171450" marR="0" lvl="0" indent="-171450" algn="l" rtl="0">
              <a:spcBef>
                <a:spcPts val="0"/>
              </a:spcBef>
              <a:spcAft>
                <a:spcPts val="0"/>
              </a:spcAft>
              <a:buClr>
                <a:schemeClr val="dk1"/>
              </a:buClr>
              <a:buSzPts val="1400"/>
              <a:buFont typeface="Arial" panose="020B0604020202020204"/>
              <a:buChar char="•"/>
            </a:pPr>
            <a:r>
              <a:rPr lang="es-MX" sz="1400" u="sng">
                <a:solidFill>
                  <a:schemeClr val="hlink"/>
                </a:solidFill>
                <a:latin typeface="Work Sans Light"/>
                <a:ea typeface="Work Sans Light"/>
                <a:cs typeface="Work Sans Light"/>
                <a:sym typeface="Work Sans Light"/>
                <a:hlinkClick r:id="rId3"/>
              </a:rPr>
              <a:t>Requerimientos IEEE-830</a:t>
            </a:r>
            <a:endParaRPr sz="1400">
              <a:solidFill>
                <a:schemeClr val="dk1"/>
              </a:solidFill>
              <a:latin typeface="Work Sans Light"/>
              <a:ea typeface="Work Sans Light"/>
              <a:cs typeface="Work Sans Light"/>
              <a:sym typeface="Work Sans Light"/>
            </a:endParaRPr>
          </a:p>
          <a:p>
            <a:pPr marL="171450" marR="0" lvl="0" indent="-171450" algn="l" rtl="0">
              <a:spcBef>
                <a:spcPts val="0"/>
              </a:spcBef>
              <a:spcAft>
                <a:spcPts val="0"/>
              </a:spcAft>
              <a:buClr>
                <a:schemeClr val="dk1"/>
              </a:buClr>
              <a:buSzPts val="1400"/>
              <a:buFont typeface="Arial" panose="020B0604020202020204"/>
              <a:buChar char="•"/>
            </a:pPr>
            <a:r>
              <a:rPr lang="es-MX" sz="1400" u="sng">
                <a:solidFill>
                  <a:schemeClr val="hlink"/>
                </a:solidFill>
                <a:latin typeface="Work Sans Light"/>
                <a:ea typeface="Work Sans Light"/>
                <a:cs typeface="Work Sans Light"/>
                <a:sym typeface="Work Sans Light"/>
                <a:hlinkClick r:id="rId4"/>
              </a:rPr>
              <a:t>Casos de Uso </a:t>
            </a:r>
            <a:endParaRPr sz="1400">
              <a:solidFill>
                <a:schemeClr val="dk1"/>
              </a:solidFill>
              <a:latin typeface="Work Sans Light"/>
              <a:ea typeface="Work Sans Light"/>
              <a:cs typeface="Work Sans Light"/>
              <a:sym typeface="Work Sans Light"/>
            </a:endParaRPr>
          </a:p>
          <a:p>
            <a:pPr marL="171450" marR="0" lvl="0" indent="-171450" algn="l" rtl="0">
              <a:spcBef>
                <a:spcPts val="0"/>
              </a:spcBef>
              <a:spcAft>
                <a:spcPts val="0"/>
              </a:spcAft>
              <a:buClr>
                <a:schemeClr val="dk1"/>
              </a:buClr>
              <a:buSzPts val="1400"/>
              <a:buFont typeface="Arial" panose="020B0604020202020204"/>
              <a:buChar char="•"/>
            </a:pPr>
            <a:r>
              <a:rPr lang="es-MX" sz="1400" u="sng">
                <a:solidFill>
                  <a:schemeClr val="hlink"/>
                </a:solidFill>
                <a:latin typeface="Work Sans Light"/>
                <a:ea typeface="Work Sans Light"/>
                <a:cs typeface="Work Sans Light"/>
                <a:sym typeface="Work Sans Light"/>
                <a:hlinkClick r:id="rId5"/>
              </a:rPr>
              <a:t>Mockup</a:t>
            </a:r>
            <a:endParaRPr sz="1400">
              <a:solidFill>
                <a:schemeClr val="dk1"/>
              </a:solidFill>
              <a:latin typeface="Work Sans Light"/>
              <a:ea typeface="Work Sans Light"/>
              <a:cs typeface="Work Sans Light"/>
              <a:sym typeface="Work Sans Light"/>
            </a:endParaRPr>
          </a:p>
          <a:p>
            <a:pPr marL="171450" marR="0" lvl="0" indent="-171450" algn="l" rtl="0">
              <a:spcBef>
                <a:spcPts val="0"/>
              </a:spcBef>
              <a:spcAft>
                <a:spcPts val="0"/>
              </a:spcAft>
              <a:buClr>
                <a:schemeClr val="dk1"/>
              </a:buClr>
              <a:buSzPts val="1400"/>
              <a:buFont typeface="Arial" panose="020B0604020202020204"/>
              <a:buChar char="•"/>
            </a:pPr>
            <a:r>
              <a:rPr lang="es-MX" sz="1400" u="sng">
                <a:solidFill>
                  <a:schemeClr val="hlink"/>
                </a:solidFill>
                <a:latin typeface="Work Sans Light"/>
                <a:ea typeface="Work Sans Light"/>
                <a:cs typeface="Work Sans Light"/>
                <a:sym typeface="Work Sans Light"/>
                <a:hlinkClick r:id="rId6"/>
              </a:rPr>
              <a:t>Ficha Técnica</a:t>
            </a:r>
            <a:endParaRPr sz="1400">
              <a:solidFill>
                <a:schemeClr val="dk1"/>
              </a:solidFill>
              <a:latin typeface="Work Sans Light"/>
              <a:ea typeface="Work Sans Light"/>
              <a:cs typeface="Work Sans Light"/>
              <a:sym typeface="Work Sans Light"/>
            </a:endParaRPr>
          </a:p>
        </p:txBody>
      </p:sp>
      <p:grpSp>
        <p:nvGrpSpPr>
          <p:cNvPr id="193" name="Google Shape;193;p27"/>
          <p:cNvGrpSpPr/>
          <p:nvPr/>
        </p:nvGrpSpPr>
        <p:grpSpPr>
          <a:xfrm>
            <a:off x="698531" y="1685065"/>
            <a:ext cx="2368083" cy="347863"/>
            <a:chOff x="668953" y="1494678"/>
            <a:chExt cx="3239167" cy="347863"/>
          </a:xfrm>
        </p:grpSpPr>
        <p:sp>
          <p:nvSpPr>
            <p:cNvPr id="194" name="Google Shape;194;p27"/>
            <p:cNvSpPr/>
            <p:nvPr/>
          </p:nvSpPr>
          <p:spPr>
            <a:xfrm>
              <a:off x="781688" y="1796822"/>
              <a:ext cx="971956" cy="45719"/>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195" name="Google Shape;195;p27"/>
            <p:cNvSpPr txBox="1"/>
            <p:nvPr/>
          </p:nvSpPr>
          <p:spPr>
            <a:xfrm>
              <a:off x="668953" y="1494678"/>
              <a:ext cx="3239167" cy="294592"/>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Segundo Trimestre</a:t>
              </a:r>
              <a:endParaRPr lang="es-MX" sz="1800" b="1">
                <a:solidFill>
                  <a:srgbClr val="38AA00"/>
                </a:solidFill>
                <a:latin typeface="Work Sans Light"/>
                <a:ea typeface="Work Sans Light"/>
                <a:cs typeface="Work Sans Light"/>
                <a:sym typeface="Work Sans Light"/>
              </a:endParaRPr>
            </a:p>
          </p:txBody>
        </p:sp>
      </p:grpSp>
      <p:sp>
        <p:nvSpPr>
          <p:cNvPr id="196" name="Google Shape;196;p27"/>
          <p:cNvSpPr txBox="1"/>
          <p:nvPr/>
        </p:nvSpPr>
        <p:spPr>
          <a:xfrm>
            <a:off x="1086190" y="5012202"/>
            <a:ext cx="2933926" cy="1384995"/>
          </a:xfrm>
          <a:prstGeom prst="rect">
            <a:avLst/>
          </a:prstGeom>
          <a:noFill/>
          <a:ln>
            <a:noFill/>
          </a:ln>
        </p:spPr>
        <p:txBody>
          <a:bodyPr spcFirstLastPara="1" wrap="square" lIns="91425" tIns="45700" rIns="91425" bIns="45700" anchor="t" anchorCtr="0">
            <a:spAutoFit/>
          </a:bodyPr>
          <a:lstStyle/>
          <a:p>
            <a:pPr marL="285750" marR="0" lvl="0" indent="-285750" algn="l" rtl="0">
              <a:spcBef>
                <a:spcPts val="0"/>
              </a:spcBef>
              <a:spcAft>
                <a:spcPts val="0"/>
              </a:spcAft>
              <a:buClr>
                <a:schemeClr val="dk1"/>
              </a:buClr>
              <a:buSzPts val="1400"/>
              <a:buFont typeface="Arial" panose="020B0604020202020204"/>
              <a:buChar char="•"/>
            </a:pPr>
            <a:r>
              <a:rPr lang="es-MX" sz="1400" u="sng">
                <a:solidFill>
                  <a:schemeClr val="hlink"/>
                </a:solidFill>
                <a:latin typeface="Work Sans Light"/>
                <a:ea typeface="Work Sans Light"/>
                <a:cs typeface="Work Sans Light"/>
                <a:sym typeface="Work Sans Light"/>
                <a:hlinkClick r:id="rId7"/>
              </a:rPr>
              <a:t>Modelo Relacional</a:t>
            </a:r>
            <a:endParaRPr sz="1400">
              <a:solidFill>
                <a:schemeClr val="dk1"/>
              </a:solidFill>
              <a:latin typeface="Work Sans Light"/>
              <a:ea typeface="Work Sans Light"/>
              <a:cs typeface="Work Sans Light"/>
              <a:sym typeface="Work Sans Light"/>
            </a:endParaRPr>
          </a:p>
          <a:p>
            <a:pPr marL="285750" marR="0" lvl="0" indent="-285750" algn="l" rtl="0">
              <a:spcBef>
                <a:spcPts val="0"/>
              </a:spcBef>
              <a:spcAft>
                <a:spcPts val="0"/>
              </a:spcAft>
              <a:buClr>
                <a:schemeClr val="dk1"/>
              </a:buClr>
              <a:buSzPts val="1400"/>
              <a:buFont typeface="Arial" panose="020B0604020202020204"/>
              <a:buChar char="•"/>
            </a:pPr>
            <a:r>
              <a:rPr lang="es-MX" sz="1400" u="sng">
                <a:solidFill>
                  <a:schemeClr val="hlink"/>
                </a:solidFill>
                <a:latin typeface="Work Sans Light"/>
                <a:ea typeface="Work Sans Light"/>
                <a:cs typeface="Work Sans Light"/>
                <a:sym typeface="Work Sans Light"/>
                <a:hlinkClick r:id="rId8"/>
              </a:rPr>
              <a:t>Normalización </a:t>
            </a:r>
            <a:endParaRPr sz="1400">
              <a:solidFill>
                <a:schemeClr val="dk1"/>
              </a:solidFill>
              <a:latin typeface="Work Sans Light"/>
              <a:ea typeface="Work Sans Light"/>
              <a:cs typeface="Work Sans Light"/>
              <a:sym typeface="Work Sans Light"/>
            </a:endParaRPr>
          </a:p>
          <a:p>
            <a:pPr marL="285750" marR="0" lvl="0" indent="-285750" algn="l" rtl="0">
              <a:spcBef>
                <a:spcPts val="0"/>
              </a:spcBef>
              <a:spcAft>
                <a:spcPts val="0"/>
              </a:spcAft>
              <a:buClr>
                <a:schemeClr val="dk1"/>
              </a:buClr>
              <a:buSzPts val="1400"/>
              <a:buFont typeface="Arial" panose="020B0604020202020204"/>
              <a:buChar char="•"/>
            </a:pPr>
            <a:r>
              <a:rPr lang="es-MX" sz="1400" u="sng">
                <a:solidFill>
                  <a:schemeClr val="hlink"/>
                </a:solidFill>
                <a:latin typeface="Work Sans Light"/>
                <a:ea typeface="Work Sans Light"/>
                <a:cs typeface="Work Sans Light"/>
                <a:sym typeface="Work Sans Light"/>
                <a:hlinkClick r:id="rId9"/>
              </a:rPr>
              <a:t>Diccionario de Datos</a:t>
            </a:r>
            <a:endParaRPr sz="1400">
              <a:solidFill>
                <a:schemeClr val="dk1"/>
              </a:solidFill>
              <a:latin typeface="Work Sans Light"/>
              <a:ea typeface="Work Sans Light"/>
              <a:cs typeface="Work Sans Light"/>
              <a:sym typeface="Work Sans Light"/>
            </a:endParaRPr>
          </a:p>
          <a:p>
            <a:pPr marL="285750" marR="0" lvl="0" indent="-285750" algn="l" rtl="0">
              <a:spcBef>
                <a:spcPts val="0"/>
              </a:spcBef>
              <a:spcAft>
                <a:spcPts val="0"/>
              </a:spcAft>
              <a:buClr>
                <a:schemeClr val="dk1"/>
              </a:buClr>
              <a:buSzPts val="1400"/>
              <a:buFont typeface="Arial" panose="020B0604020202020204"/>
              <a:buChar char="•"/>
            </a:pPr>
            <a:r>
              <a:rPr lang="es-MX" sz="1400" u="sng">
                <a:solidFill>
                  <a:schemeClr val="hlink"/>
                </a:solidFill>
                <a:latin typeface="Work Sans Light"/>
                <a:ea typeface="Work Sans Light"/>
                <a:cs typeface="Work Sans Light"/>
                <a:sym typeface="Work Sans Light"/>
                <a:hlinkClick r:id="rId10"/>
              </a:rPr>
              <a:t>Diagrama de Clases</a:t>
            </a:r>
            <a:endParaRPr sz="1400">
              <a:solidFill>
                <a:schemeClr val="dk1"/>
              </a:solidFill>
              <a:latin typeface="Work Sans Light"/>
              <a:ea typeface="Work Sans Light"/>
              <a:cs typeface="Work Sans Light"/>
              <a:sym typeface="Work Sans Light"/>
            </a:endParaRPr>
          </a:p>
          <a:p>
            <a:pPr marL="285750" marR="0" lvl="0" indent="-285750" algn="l" rtl="0">
              <a:spcBef>
                <a:spcPts val="0"/>
              </a:spcBef>
              <a:spcAft>
                <a:spcPts val="0"/>
              </a:spcAft>
              <a:buClr>
                <a:schemeClr val="dk1"/>
              </a:buClr>
              <a:buSzPts val="1400"/>
              <a:buFont typeface="Arial" panose="020B0604020202020204"/>
              <a:buChar char="•"/>
            </a:pPr>
            <a:r>
              <a:rPr lang="es-MX" sz="1400" u="sng">
                <a:solidFill>
                  <a:schemeClr val="hlink"/>
                </a:solidFill>
                <a:latin typeface="Work Sans Light"/>
                <a:ea typeface="Work Sans Light"/>
                <a:cs typeface="Work Sans Light"/>
                <a:sym typeface="Work Sans Light"/>
                <a:hlinkClick r:id="rId11"/>
              </a:rPr>
              <a:t>Diagrama de Distribución </a:t>
            </a:r>
            <a:endParaRPr sz="1400">
              <a:solidFill>
                <a:schemeClr val="dk1"/>
              </a:solidFill>
              <a:latin typeface="Work Sans Light"/>
              <a:ea typeface="Work Sans Light"/>
              <a:cs typeface="Work Sans Light"/>
              <a:sym typeface="Work Sans Light"/>
            </a:endParaRPr>
          </a:p>
          <a:p>
            <a:pPr marL="285750" marR="0" lvl="0" indent="-285750" algn="l" rtl="0">
              <a:spcBef>
                <a:spcPts val="0"/>
              </a:spcBef>
              <a:spcAft>
                <a:spcPts val="0"/>
              </a:spcAft>
              <a:buClr>
                <a:schemeClr val="dk1"/>
              </a:buClr>
              <a:buSzPts val="1400"/>
              <a:buFont typeface="Arial" panose="020B0604020202020204"/>
              <a:buChar char="•"/>
            </a:pPr>
            <a:r>
              <a:rPr lang="es-MX" sz="1400" u="sng">
                <a:solidFill>
                  <a:schemeClr val="hlink"/>
                </a:solidFill>
                <a:latin typeface="Work Sans Light"/>
                <a:ea typeface="Work Sans Light"/>
                <a:cs typeface="Work Sans Light"/>
                <a:sym typeface="Work Sans Light"/>
                <a:hlinkClick r:id="rId12"/>
              </a:rPr>
              <a:t>Prototipo </a:t>
            </a:r>
            <a:endParaRPr sz="1400">
              <a:solidFill>
                <a:schemeClr val="dk1"/>
              </a:solidFill>
              <a:latin typeface="Work Sans Light"/>
              <a:ea typeface="Work Sans Light"/>
              <a:cs typeface="Work Sans Light"/>
              <a:sym typeface="Work Sans Light"/>
            </a:endParaRPr>
          </a:p>
        </p:txBody>
      </p:sp>
      <p:grpSp>
        <p:nvGrpSpPr>
          <p:cNvPr id="197" name="Google Shape;197;p27"/>
          <p:cNvGrpSpPr/>
          <p:nvPr/>
        </p:nvGrpSpPr>
        <p:grpSpPr>
          <a:xfrm>
            <a:off x="780949" y="4664339"/>
            <a:ext cx="3239167" cy="347863"/>
            <a:chOff x="668953" y="1494678"/>
            <a:chExt cx="3239167" cy="347863"/>
          </a:xfrm>
        </p:grpSpPr>
        <p:sp>
          <p:nvSpPr>
            <p:cNvPr id="198" name="Google Shape;198;p27"/>
            <p:cNvSpPr/>
            <p:nvPr/>
          </p:nvSpPr>
          <p:spPr>
            <a:xfrm>
              <a:off x="781688" y="1796822"/>
              <a:ext cx="971956" cy="45719"/>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199" name="Google Shape;199;p27"/>
            <p:cNvSpPr txBox="1"/>
            <p:nvPr/>
          </p:nvSpPr>
          <p:spPr>
            <a:xfrm>
              <a:off x="668953" y="1494678"/>
              <a:ext cx="3239167" cy="294592"/>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Tercer Trimestre</a:t>
              </a:r>
              <a:endParaRPr lang="es-MX" sz="1800" b="1">
                <a:solidFill>
                  <a:srgbClr val="38AA00"/>
                </a:solidFill>
                <a:latin typeface="Work Sans Light"/>
                <a:ea typeface="Work Sans Light"/>
                <a:cs typeface="Work Sans Light"/>
                <a:sym typeface="Work Sans Light"/>
              </a:endParaRPr>
            </a:p>
          </p:txBody>
        </p:sp>
      </p:grpSp>
      <p:grpSp>
        <p:nvGrpSpPr>
          <p:cNvPr id="200" name="Google Shape;200;p27"/>
          <p:cNvGrpSpPr/>
          <p:nvPr/>
        </p:nvGrpSpPr>
        <p:grpSpPr>
          <a:xfrm>
            <a:off x="4700657" y="2685396"/>
            <a:ext cx="2592995" cy="347863"/>
            <a:chOff x="668953" y="1494678"/>
            <a:chExt cx="3239167" cy="347863"/>
          </a:xfrm>
        </p:grpSpPr>
        <p:sp>
          <p:nvSpPr>
            <p:cNvPr id="201" name="Google Shape;201;p27"/>
            <p:cNvSpPr/>
            <p:nvPr/>
          </p:nvSpPr>
          <p:spPr>
            <a:xfrm>
              <a:off x="781688" y="1796822"/>
              <a:ext cx="971956" cy="45719"/>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202" name="Google Shape;202;p27"/>
            <p:cNvSpPr txBox="1"/>
            <p:nvPr/>
          </p:nvSpPr>
          <p:spPr>
            <a:xfrm>
              <a:off x="668953" y="1494678"/>
              <a:ext cx="3239167" cy="294592"/>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Cuarto Trimestre</a:t>
              </a:r>
              <a:endParaRPr lang="es-MX" sz="1800" b="1">
                <a:solidFill>
                  <a:srgbClr val="38AA00"/>
                </a:solidFill>
                <a:latin typeface="Work Sans Light"/>
                <a:ea typeface="Work Sans Light"/>
                <a:cs typeface="Work Sans Light"/>
                <a:sym typeface="Work Sans Light"/>
              </a:endParaRPr>
            </a:p>
          </p:txBody>
        </p:sp>
      </p:grpSp>
      <p:sp>
        <p:nvSpPr>
          <p:cNvPr id="203" name="Google Shape;203;p27"/>
          <p:cNvSpPr txBox="1"/>
          <p:nvPr/>
        </p:nvSpPr>
        <p:spPr>
          <a:xfrm>
            <a:off x="4813393" y="3129645"/>
            <a:ext cx="3061920" cy="738664"/>
          </a:xfrm>
          <a:prstGeom prst="rect">
            <a:avLst/>
          </a:prstGeom>
          <a:noFill/>
          <a:ln>
            <a:noFill/>
          </a:ln>
        </p:spPr>
        <p:txBody>
          <a:bodyPr spcFirstLastPara="1" wrap="square" lIns="91425" tIns="45700" rIns="91425" bIns="45700" anchor="t" anchorCtr="0">
            <a:spAutoFit/>
          </a:bodyPr>
          <a:lstStyle/>
          <a:p>
            <a:pPr marL="171450" marR="0" lvl="0" indent="-171450" algn="l" rtl="0">
              <a:spcBef>
                <a:spcPts val="0"/>
              </a:spcBef>
              <a:spcAft>
                <a:spcPts val="0"/>
              </a:spcAft>
              <a:buClr>
                <a:schemeClr val="dk1"/>
              </a:buClr>
              <a:buSzPts val="1400"/>
              <a:buFont typeface="Arial" panose="020B0604020202020204"/>
              <a:buChar char="•"/>
            </a:pPr>
            <a:r>
              <a:rPr lang="es-MX" sz="1400" u="sng">
                <a:solidFill>
                  <a:schemeClr val="hlink"/>
                </a:solidFill>
                <a:latin typeface="Work Sans Light"/>
                <a:ea typeface="Work Sans Light"/>
                <a:cs typeface="Work Sans Light"/>
                <a:sym typeface="Work Sans Light"/>
                <a:hlinkClick r:id="rId13"/>
              </a:rPr>
              <a:t>Construcción de Base de Datos</a:t>
            </a:r>
            <a:endParaRPr sz="1400">
              <a:solidFill>
                <a:schemeClr val="dk1"/>
              </a:solidFill>
              <a:latin typeface="Work Sans Light"/>
              <a:ea typeface="Work Sans Light"/>
              <a:cs typeface="Work Sans Light"/>
              <a:sym typeface="Work Sans Light"/>
            </a:endParaRPr>
          </a:p>
          <a:p>
            <a:pPr marL="171450" marR="0" lvl="0" indent="-171450" algn="l" rtl="0">
              <a:spcBef>
                <a:spcPts val="0"/>
              </a:spcBef>
              <a:spcAft>
                <a:spcPts val="0"/>
              </a:spcAft>
              <a:buClr>
                <a:schemeClr val="dk1"/>
              </a:buClr>
              <a:buSzPts val="1400"/>
              <a:buFont typeface="Arial" panose="020B0604020202020204"/>
              <a:buChar char="•"/>
            </a:pPr>
            <a:r>
              <a:rPr lang="es-MX" sz="1400" u="sng">
                <a:solidFill>
                  <a:schemeClr val="hlink"/>
                </a:solidFill>
                <a:latin typeface="Work Sans Light"/>
                <a:ea typeface="Work Sans Light"/>
                <a:cs typeface="Work Sans Light"/>
                <a:sym typeface="Work Sans Light"/>
                <a:hlinkClick r:id="rId14"/>
              </a:rPr>
              <a:t>Uso de Base de Datos </a:t>
            </a:r>
            <a:endParaRPr sz="1400">
              <a:solidFill>
                <a:schemeClr val="dk1"/>
              </a:solidFill>
              <a:latin typeface="Work Sans Light"/>
              <a:ea typeface="Work Sans Light"/>
              <a:cs typeface="Work Sans Light"/>
              <a:sym typeface="Work Sans Light"/>
            </a:endParaRPr>
          </a:p>
          <a:p>
            <a:pPr marL="171450" marR="0" lvl="0" indent="-171450" algn="l" rtl="0">
              <a:spcBef>
                <a:spcPts val="0"/>
              </a:spcBef>
              <a:spcAft>
                <a:spcPts val="0"/>
              </a:spcAft>
              <a:buClr>
                <a:schemeClr val="dk1"/>
              </a:buClr>
              <a:buSzPts val="1400"/>
              <a:buFont typeface="Arial" panose="020B0604020202020204"/>
              <a:buChar char="•"/>
            </a:pPr>
            <a:r>
              <a:rPr lang="es-MX" sz="1400" u="sng">
                <a:solidFill>
                  <a:schemeClr val="hlink"/>
                </a:solidFill>
                <a:latin typeface="Work Sans Light"/>
                <a:ea typeface="Work Sans Light"/>
                <a:cs typeface="Work Sans Light"/>
                <a:sym typeface="Work Sans Light"/>
                <a:hlinkClick r:id="rId15"/>
              </a:rPr>
              <a:t>FrontEnd - Encriptación </a:t>
            </a:r>
            <a:endParaRPr sz="1400">
              <a:solidFill>
                <a:schemeClr val="dk1"/>
              </a:solidFill>
              <a:latin typeface="Work Sans Light"/>
              <a:ea typeface="Work Sans Light"/>
              <a:cs typeface="Work Sans Light"/>
              <a:sym typeface="Work Sans Light"/>
            </a:endParaRPr>
          </a:p>
        </p:txBody>
      </p:sp>
      <p:grpSp>
        <p:nvGrpSpPr>
          <p:cNvPr id="204" name="Google Shape;204;p27"/>
          <p:cNvGrpSpPr/>
          <p:nvPr/>
        </p:nvGrpSpPr>
        <p:grpSpPr>
          <a:xfrm>
            <a:off x="4813393" y="4378997"/>
            <a:ext cx="2180358" cy="347863"/>
            <a:chOff x="668953" y="1494678"/>
            <a:chExt cx="3239167" cy="347863"/>
          </a:xfrm>
        </p:grpSpPr>
        <p:sp>
          <p:nvSpPr>
            <p:cNvPr id="205" name="Google Shape;205;p27"/>
            <p:cNvSpPr/>
            <p:nvPr/>
          </p:nvSpPr>
          <p:spPr>
            <a:xfrm>
              <a:off x="781688" y="1796822"/>
              <a:ext cx="971956" cy="45719"/>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206" name="Google Shape;206;p27"/>
            <p:cNvSpPr txBox="1"/>
            <p:nvPr/>
          </p:nvSpPr>
          <p:spPr>
            <a:xfrm>
              <a:off x="668953" y="1494678"/>
              <a:ext cx="3239167" cy="294592"/>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Quinto Trimestre</a:t>
              </a:r>
              <a:endParaRPr lang="es-MX" sz="1800" b="1">
                <a:solidFill>
                  <a:srgbClr val="38AA00"/>
                </a:solidFill>
                <a:latin typeface="Work Sans Light"/>
                <a:ea typeface="Work Sans Light"/>
                <a:cs typeface="Work Sans Light"/>
                <a:sym typeface="Work Sans Light"/>
              </a:endParaRPr>
            </a:p>
          </p:txBody>
        </p:sp>
      </p:grpSp>
      <p:sp>
        <p:nvSpPr>
          <p:cNvPr id="207" name="Google Shape;207;p27"/>
          <p:cNvSpPr txBox="1"/>
          <p:nvPr/>
        </p:nvSpPr>
        <p:spPr>
          <a:xfrm>
            <a:off x="5064897" y="4874187"/>
            <a:ext cx="2077940" cy="307777"/>
          </a:xfrm>
          <a:prstGeom prst="rect">
            <a:avLst/>
          </a:prstGeom>
          <a:noFill/>
          <a:ln>
            <a:noFill/>
          </a:ln>
        </p:spPr>
        <p:txBody>
          <a:bodyPr spcFirstLastPara="1" wrap="square" lIns="91425" tIns="45700" rIns="91425" bIns="45700" anchor="t" anchorCtr="0">
            <a:spAutoFit/>
          </a:bodyPr>
          <a:lstStyle/>
          <a:p>
            <a:pPr marL="171450" marR="0" lvl="0" indent="-171450" algn="l" rtl="0">
              <a:spcBef>
                <a:spcPts val="0"/>
              </a:spcBef>
              <a:spcAft>
                <a:spcPts val="0"/>
              </a:spcAft>
              <a:buClr>
                <a:schemeClr val="dk1"/>
              </a:buClr>
              <a:buSzPts val="1400"/>
              <a:buFont typeface="Arial" panose="020B0604020202020204"/>
              <a:buChar char="•"/>
            </a:pPr>
            <a:r>
              <a:rPr lang="es-MX" sz="1400">
                <a:solidFill>
                  <a:schemeClr val="dk1"/>
                </a:solidFill>
                <a:latin typeface="Work Sans Light"/>
                <a:ea typeface="Work Sans Light"/>
                <a:cs typeface="Work Sans Light"/>
                <a:sym typeface="Work Sans Light"/>
              </a:rPr>
              <a:t>FrontEnd - API REST </a:t>
            </a:r>
            <a:endParaRPr lang="es-MX" sz="1400">
              <a:solidFill>
                <a:schemeClr val="dk1"/>
              </a:solidFill>
              <a:latin typeface="Work Sans Light"/>
              <a:ea typeface="Work Sans Light"/>
              <a:cs typeface="Work Sans Light"/>
              <a:sym typeface="Work Sans Light"/>
            </a:endParaRPr>
          </a:p>
        </p:txBody>
      </p:sp>
      <p:grpSp>
        <p:nvGrpSpPr>
          <p:cNvPr id="208" name="Google Shape;208;p27"/>
          <p:cNvGrpSpPr/>
          <p:nvPr/>
        </p:nvGrpSpPr>
        <p:grpSpPr>
          <a:xfrm>
            <a:off x="8909107" y="1895489"/>
            <a:ext cx="1955468" cy="347863"/>
            <a:chOff x="668953" y="1494678"/>
            <a:chExt cx="3239167" cy="347863"/>
          </a:xfrm>
        </p:grpSpPr>
        <p:sp>
          <p:nvSpPr>
            <p:cNvPr id="209" name="Google Shape;209;p27"/>
            <p:cNvSpPr/>
            <p:nvPr/>
          </p:nvSpPr>
          <p:spPr>
            <a:xfrm>
              <a:off x="781688" y="1796822"/>
              <a:ext cx="971956" cy="45719"/>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210" name="Google Shape;210;p27"/>
            <p:cNvSpPr txBox="1"/>
            <p:nvPr/>
          </p:nvSpPr>
          <p:spPr>
            <a:xfrm>
              <a:off x="668953" y="1494678"/>
              <a:ext cx="3239167" cy="294592"/>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Sexto Trimestre</a:t>
              </a:r>
              <a:endParaRPr lang="es-MX" sz="1800" b="1">
                <a:solidFill>
                  <a:srgbClr val="38AA00"/>
                </a:solidFill>
                <a:latin typeface="Work Sans Light"/>
                <a:ea typeface="Work Sans Light"/>
                <a:cs typeface="Work Sans Light"/>
                <a:sym typeface="Work Sans Light"/>
              </a:endParaRPr>
            </a:p>
          </p:txBody>
        </p:sp>
      </p:grpSp>
      <p:sp>
        <p:nvSpPr>
          <p:cNvPr id="211" name="Google Shape;211;p27"/>
          <p:cNvSpPr txBox="1"/>
          <p:nvPr/>
        </p:nvSpPr>
        <p:spPr>
          <a:xfrm>
            <a:off x="9137609" y="2393009"/>
            <a:ext cx="1671706" cy="738664"/>
          </a:xfrm>
          <a:prstGeom prst="rect">
            <a:avLst/>
          </a:prstGeom>
          <a:noFill/>
          <a:ln>
            <a:noFill/>
          </a:ln>
        </p:spPr>
        <p:txBody>
          <a:bodyPr spcFirstLastPara="1" wrap="square" lIns="91425" tIns="45700" rIns="91425" bIns="45700" anchor="t" anchorCtr="0">
            <a:spAutoFit/>
          </a:bodyPr>
          <a:lstStyle/>
          <a:p>
            <a:pPr marL="171450" marR="0" lvl="0" indent="-171450" algn="l" rtl="0">
              <a:spcBef>
                <a:spcPts val="0"/>
              </a:spcBef>
              <a:spcAft>
                <a:spcPts val="0"/>
              </a:spcAft>
              <a:buClr>
                <a:schemeClr val="dk1"/>
              </a:buClr>
              <a:buSzPts val="1400"/>
              <a:buFont typeface="Arial" panose="020B0604020202020204"/>
              <a:buChar char="•"/>
            </a:pPr>
            <a:r>
              <a:rPr lang="es-MX" sz="1400">
                <a:solidFill>
                  <a:schemeClr val="dk1"/>
                </a:solidFill>
                <a:latin typeface="Work Sans Light"/>
                <a:ea typeface="Work Sans Light"/>
                <a:cs typeface="Work Sans Light"/>
                <a:sym typeface="Work Sans Light"/>
              </a:rPr>
              <a:t>Codificación </a:t>
            </a:r>
            <a:endParaRPr lang="es-MX" sz="1400">
              <a:solidFill>
                <a:schemeClr val="dk1"/>
              </a:solidFill>
              <a:latin typeface="Work Sans Light"/>
              <a:ea typeface="Work Sans Light"/>
              <a:cs typeface="Work Sans Light"/>
              <a:sym typeface="Work Sans Light"/>
            </a:endParaRPr>
          </a:p>
          <a:p>
            <a:pPr marL="171450" marR="0" lvl="0" indent="-171450" algn="l" rtl="0">
              <a:spcBef>
                <a:spcPts val="0"/>
              </a:spcBef>
              <a:spcAft>
                <a:spcPts val="0"/>
              </a:spcAft>
              <a:buClr>
                <a:schemeClr val="dk1"/>
              </a:buClr>
              <a:buSzPts val="1400"/>
              <a:buFont typeface="Arial" panose="020B0604020202020204"/>
              <a:buChar char="•"/>
            </a:pPr>
            <a:r>
              <a:rPr lang="es-MX" sz="1400">
                <a:solidFill>
                  <a:schemeClr val="dk1"/>
                </a:solidFill>
                <a:latin typeface="Work Sans Light"/>
                <a:ea typeface="Work Sans Light"/>
                <a:cs typeface="Work Sans Light"/>
                <a:sym typeface="Work Sans Light"/>
              </a:rPr>
              <a:t>App Móvil </a:t>
            </a:r>
            <a:endParaRPr lang="es-MX" sz="1400">
              <a:solidFill>
                <a:schemeClr val="dk1"/>
              </a:solidFill>
              <a:latin typeface="Work Sans Light"/>
              <a:ea typeface="Work Sans Light"/>
              <a:cs typeface="Work Sans Light"/>
              <a:sym typeface="Work Sans Light"/>
            </a:endParaRPr>
          </a:p>
          <a:p>
            <a:pPr marL="171450" marR="0" lvl="0" indent="-171450" algn="l" rtl="0">
              <a:spcBef>
                <a:spcPts val="0"/>
              </a:spcBef>
              <a:spcAft>
                <a:spcPts val="0"/>
              </a:spcAft>
              <a:buClr>
                <a:schemeClr val="dk1"/>
              </a:buClr>
              <a:buSzPts val="1400"/>
              <a:buFont typeface="Arial" panose="020B0604020202020204"/>
              <a:buChar char="•"/>
            </a:pPr>
            <a:r>
              <a:rPr lang="es-MX" sz="1400">
                <a:solidFill>
                  <a:schemeClr val="dk1"/>
                </a:solidFill>
                <a:latin typeface="Work Sans Light"/>
                <a:ea typeface="Work Sans Light"/>
                <a:cs typeface="Work Sans Light"/>
                <a:sym typeface="Work Sans Light"/>
              </a:rPr>
              <a:t>API REST</a:t>
            </a:r>
            <a:endParaRPr lang="es-MX" sz="1400">
              <a:solidFill>
                <a:schemeClr val="dk1"/>
              </a:solidFill>
              <a:latin typeface="Work Sans Light"/>
              <a:ea typeface="Work Sans Light"/>
              <a:cs typeface="Work Sans Light"/>
              <a:sym typeface="Work Sans Light"/>
            </a:endParaRPr>
          </a:p>
        </p:txBody>
      </p:sp>
      <p:pic>
        <p:nvPicPr>
          <p:cNvPr id="212" name="Google Shape;212;p27"/>
          <p:cNvPicPr preferRelativeResize="0"/>
          <p:nvPr/>
        </p:nvPicPr>
        <p:blipFill rotWithShape="1">
          <a:blip r:embed="rId16"/>
          <a:srcRect/>
          <a:stretch>
            <a:fillRect/>
          </a:stretch>
        </p:blipFill>
        <p:spPr>
          <a:xfrm>
            <a:off x="7983912" y="48751"/>
            <a:ext cx="1451120" cy="1334363"/>
          </a:xfrm>
          <a:prstGeom prst="rect">
            <a:avLst/>
          </a:prstGeom>
          <a:noFill/>
          <a:ln>
            <a:noFill/>
          </a:ln>
        </p:spPr>
      </p:pic>
      <p:pic>
        <p:nvPicPr>
          <p:cNvPr id="213" name="Google Shape;213;p27"/>
          <p:cNvPicPr preferRelativeResize="0"/>
          <p:nvPr/>
        </p:nvPicPr>
        <p:blipFill rotWithShape="1">
          <a:blip r:embed="rId17"/>
          <a:srcRect/>
          <a:stretch>
            <a:fillRect/>
          </a:stretch>
        </p:blipFill>
        <p:spPr>
          <a:xfrm>
            <a:off x="9269252" y="366270"/>
            <a:ext cx="1647324" cy="920812"/>
          </a:xfrm>
          <a:prstGeom prst="rect">
            <a:avLst/>
          </a:prstGeom>
          <a:noFill/>
          <a:ln>
            <a:noFill/>
          </a:ln>
        </p:spPr>
      </p:pic>
      <p:grpSp>
        <p:nvGrpSpPr>
          <p:cNvPr id="214" name="Google Shape;214;p27"/>
          <p:cNvGrpSpPr/>
          <p:nvPr/>
        </p:nvGrpSpPr>
        <p:grpSpPr>
          <a:xfrm>
            <a:off x="8909101" y="4726844"/>
            <a:ext cx="2278002" cy="347863"/>
            <a:chOff x="668952" y="1494678"/>
            <a:chExt cx="2898590" cy="347863"/>
          </a:xfrm>
        </p:grpSpPr>
        <p:sp>
          <p:nvSpPr>
            <p:cNvPr id="215" name="Google Shape;215;p27"/>
            <p:cNvSpPr/>
            <p:nvPr/>
          </p:nvSpPr>
          <p:spPr>
            <a:xfrm>
              <a:off x="781688" y="1796822"/>
              <a:ext cx="971956" cy="45719"/>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panose="020F0502020204030204"/>
                <a:ea typeface="Calibri" panose="020F0502020204030204"/>
                <a:cs typeface="Calibri" panose="020F0502020204030204"/>
                <a:sym typeface="Calibri" panose="020F0502020204030204"/>
              </a:endParaRPr>
            </a:p>
          </p:txBody>
        </p:sp>
        <p:sp>
          <p:nvSpPr>
            <p:cNvPr id="216" name="Google Shape;216;p27"/>
            <p:cNvSpPr txBox="1"/>
            <p:nvPr/>
          </p:nvSpPr>
          <p:spPr>
            <a:xfrm>
              <a:off x="668952" y="1494678"/>
              <a:ext cx="2898590" cy="294592"/>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MX" sz="1800" b="1">
                  <a:solidFill>
                    <a:srgbClr val="38AA00"/>
                  </a:solidFill>
                  <a:latin typeface="Work Sans Light"/>
                  <a:ea typeface="Work Sans Light"/>
                  <a:cs typeface="Work Sans Light"/>
                  <a:sym typeface="Work Sans Light"/>
                </a:rPr>
                <a:t>Séptimo Trimestre</a:t>
              </a:r>
              <a:endParaRPr lang="es-MX" sz="1800" b="1">
                <a:solidFill>
                  <a:srgbClr val="38AA00"/>
                </a:solidFill>
                <a:latin typeface="Work Sans Light"/>
                <a:ea typeface="Work Sans Light"/>
                <a:cs typeface="Work Sans Light"/>
                <a:sym typeface="Work Sans Light"/>
              </a:endParaRPr>
            </a:p>
          </p:txBody>
        </p:sp>
      </p:grpSp>
      <p:sp>
        <p:nvSpPr>
          <p:cNvPr id="217" name="Google Shape;217;p27"/>
          <p:cNvSpPr txBox="1"/>
          <p:nvPr/>
        </p:nvSpPr>
        <p:spPr>
          <a:xfrm>
            <a:off x="9137611" y="5224364"/>
            <a:ext cx="2800500" cy="1169700"/>
          </a:xfrm>
          <a:prstGeom prst="rect">
            <a:avLst/>
          </a:prstGeom>
          <a:noFill/>
          <a:ln>
            <a:noFill/>
          </a:ln>
        </p:spPr>
        <p:txBody>
          <a:bodyPr spcFirstLastPara="1" wrap="square" lIns="91425" tIns="45700" rIns="91425" bIns="45700" anchor="t" anchorCtr="0">
            <a:spAutoFit/>
          </a:bodyPr>
          <a:lstStyle/>
          <a:p>
            <a:pPr marL="171450" marR="0" lvl="0" indent="-171450" algn="l" rtl="0">
              <a:spcBef>
                <a:spcPts val="0"/>
              </a:spcBef>
              <a:spcAft>
                <a:spcPts val="0"/>
              </a:spcAft>
              <a:buClr>
                <a:schemeClr val="dk1"/>
              </a:buClr>
              <a:buSzPts val="1400"/>
              <a:buFont typeface="Arial" panose="020B0604020202020204"/>
              <a:buChar char="•"/>
            </a:pPr>
            <a:r>
              <a:rPr lang="es-MX" sz="1400">
                <a:solidFill>
                  <a:schemeClr val="dk1"/>
                </a:solidFill>
                <a:latin typeface="Work Sans Light"/>
                <a:ea typeface="Work Sans Light"/>
                <a:cs typeface="Work Sans Light"/>
                <a:sym typeface="Work Sans Light"/>
              </a:rPr>
              <a:t>Pruebas Técnicas</a:t>
            </a:r>
            <a:endParaRPr lang="es-MX" sz="1400">
              <a:solidFill>
                <a:schemeClr val="dk1"/>
              </a:solidFill>
              <a:latin typeface="Work Sans Light"/>
              <a:ea typeface="Work Sans Light"/>
              <a:cs typeface="Work Sans Light"/>
              <a:sym typeface="Work Sans Light"/>
            </a:endParaRPr>
          </a:p>
          <a:p>
            <a:pPr marL="171450" marR="0" lvl="0" indent="-171450" algn="l" rtl="0">
              <a:spcBef>
                <a:spcPts val="0"/>
              </a:spcBef>
              <a:spcAft>
                <a:spcPts val="0"/>
              </a:spcAft>
              <a:buClr>
                <a:schemeClr val="dk1"/>
              </a:buClr>
              <a:buSzPts val="1400"/>
              <a:buFont typeface="Arial" panose="020B0604020202020204"/>
              <a:buChar char="•"/>
            </a:pPr>
            <a:r>
              <a:rPr lang="es-MX" sz="1400">
                <a:solidFill>
                  <a:schemeClr val="dk1"/>
                </a:solidFill>
                <a:latin typeface="Work Sans Light"/>
                <a:ea typeface="Work Sans Light"/>
                <a:cs typeface="Work Sans Light"/>
                <a:sym typeface="Work Sans Light"/>
              </a:rPr>
              <a:t>Plan de Implementación</a:t>
            </a:r>
            <a:endParaRPr lang="es-MX" sz="1400">
              <a:solidFill>
                <a:schemeClr val="dk1"/>
              </a:solidFill>
              <a:latin typeface="Work Sans Light"/>
              <a:ea typeface="Work Sans Light"/>
              <a:cs typeface="Work Sans Light"/>
              <a:sym typeface="Work Sans Light"/>
            </a:endParaRPr>
          </a:p>
          <a:p>
            <a:pPr marL="171450" marR="0" lvl="0" indent="-171450" algn="l" rtl="0">
              <a:spcBef>
                <a:spcPts val="0"/>
              </a:spcBef>
              <a:spcAft>
                <a:spcPts val="0"/>
              </a:spcAft>
              <a:buClr>
                <a:schemeClr val="dk1"/>
              </a:buClr>
              <a:buSzPts val="1400"/>
              <a:buFont typeface="Arial" panose="020B0604020202020204"/>
              <a:buChar char="•"/>
            </a:pPr>
            <a:r>
              <a:rPr lang="es-MX" sz="1400">
                <a:solidFill>
                  <a:schemeClr val="dk1"/>
                </a:solidFill>
                <a:latin typeface="Work Sans Light"/>
                <a:ea typeface="Work Sans Light"/>
                <a:cs typeface="Work Sans Light"/>
                <a:sym typeface="Work Sans Light"/>
              </a:rPr>
              <a:t>Manuales </a:t>
            </a:r>
            <a:endParaRPr lang="es-MX" sz="1400">
              <a:solidFill>
                <a:schemeClr val="dk1"/>
              </a:solidFill>
              <a:latin typeface="Work Sans Light"/>
              <a:ea typeface="Work Sans Light"/>
              <a:cs typeface="Work Sans Light"/>
              <a:sym typeface="Work Sans Light"/>
            </a:endParaRPr>
          </a:p>
          <a:p>
            <a:pPr marL="171450" marR="0" lvl="0" indent="-171450" algn="l" rtl="0">
              <a:spcBef>
                <a:spcPts val="0"/>
              </a:spcBef>
              <a:spcAft>
                <a:spcPts val="0"/>
              </a:spcAft>
              <a:buClr>
                <a:schemeClr val="dk1"/>
              </a:buClr>
              <a:buSzPts val="1400"/>
              <a:buFont typeface="Arial" panose="020B0604020202020204"/>
              <a:buChar char="•"/>
            </a:pPr>
            <a:r>
              <a:rPr lang="es-MX" sz="1400">
                <a:solidFill>
                  <a:schemeClr val="dk1"/>
                </a:solidFill>
                <a:latin typeface="Work Sans Light"/>
                <a:ea typeface="Work Sans Light"/>
                <a:cs typeface="Work Sans Light"/>
                <a:sym typeface="Work Sans Light"/>
              </a:rPr>
              <a:t>Modelo de Calidad </a:t>
            </a:r>
            <a:endParaRPr lang="es-MX" sz="1400">
              <a:solidFill>
                <a:schemeClr val="dk1"/>
              </a:solidFill>
              <a:latin typeface="Work Sans Light"/>
              <a:ea typeface="Work Sans Light"/>
              <a:cs typeface="Work Sans Light"/>
              <a:sym typeface="Work Sans Light"/>
            </a:endParaRPr>
          </a:p>
          <a:p>
            <a:pPr marL="171450" marR="0" lvl="0" indent="-171450" algn="l" rtl="0">
              <a:spcBef>
                <a:spcPts val="0"/>
              </a:spcBef>
              <a:spcAft>
                <a:spcPts val="0"/>
              </a:spcAft>
              <a:buClr>
                <a:schemeClr val="dk1"/>
              </a:buClr>
              <a:buSzPts val="1400"/>
              <a:buFont typeface="Arial" panose="020B0604020202020204"/>
              <a:buChar char="•"/>
            </a:pPr>
            <a:r>
              <a:rPr lang="es-MX" sz="1400">
                <a:solidFill>
                  <a:schemeClr val="dk1"/>
                </a:solidFill>
                <a:latin typeface="Work Sans Light"/>
                <a:ea typeface="Work Sans Light"/>
                <a:cs typeface="Work Sans Light"/>
                <a:sym typeface="Work Sans Light"/>
              </a:rPr>
              <a:t>Diagrama de Despliegue </a:t>
            </a:r>
            <a:endParaRPr lang="es-MX" sz="1400">
              <a:solidFill>
                <a:schemeClr val="dk1"/>
              </a:solidFill>
              <a:latin typeface="Work Sans Light"/>
              <a:ea typeface="Work Sans Light"/>
              <a:cs typeface="Work Sans Light"/>
              <a:sym typeface="Work Sans Light"/>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221" name="Shape 221"/>
        <p:cNvGrpSpPr/>
        <p:nvPr/>
      </p:nvGrpSpPr>
      <p:grpSpPr>
        <a:xfrm>
          <a:off x="0" y="0"/>
          <a:ext cx="0" cy="0"/>
          <a:chOff x="0" y="0"/>
          <a:chExt cx="0" cy="0"/>
        </a:xfrm>
      </p:grpSpPr>
      <p:pic>
        <p:nvPicPr>
          <p:cNvPr id="222" name="Google Shape;222;p28" descr="Imagen que contiene Interfaz de usuario gráfica&#10;&#10;Descripción generada automáticamente"/>
          <p:cNvPicPr preferRelativeResize="0"/>
          <p:nvPr/>
        </p:nvPicPr>
        <p:blipFill rotWithShape="1">
          <a:blip r:embed="rId1"/>
          <a:srcRect/>
          <a:stretch>
            <a:fillRect/>
          </a:stretch>
        </p:blipFill>
        <p:spPr>
          <a:xfrm>
            <a:off x="0" y="0"/>
            <a:ext cx="12192000" cy="6858000"/>
          </a:xfrm>
          <a:prstGeom prst="rect">
            <a:avLst/>
          </a:prstGeom>
          <a:noFill/>
          <a:ln>
            <a:noFill/>
          </a:ln>
        </p:spPr>
      </p:pic>
    </p:spTree>
  </p:cSld>
  <p:clrMapOvr>
    <a:masterClrMapping/>
  </p:clrMapOvr>
</p:sld>
</file>

<file path=ppt/theme/theme1.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4691</Words>
  <Application>WPS Presentation</Application>
  <PresentationFormat/>
  <Paragraphs>113</Paragraphs>
  <Slides>11</Slides>
  <Notes>0</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11</vt:i4>
      </vt:variant>
    </vt:vector>
  </HeadingPairs>
  <TitlesOfParts>
    <vt:vector size="21" baseType="lpstr">
      <vt:lpstr>Arial</vt:lpstr>
      <vt:lpstr>SimSun</vt:lpstr>
      <vt:lpstr>Wingdings</vt:lpstr>
      <vt:lpstr>Arial</vt:lpstr>
      <vt:lpstr>Calibri</vt:lpstr>
      <vt:lpstr>Work Sans Light</vt:lpstr>
      <vt:lpstr>Work Sans Medium</vt:lpstr>
      <vt:lpstr>Microsoft YaHei</vt:lpstr>
      <vt:lpstr>Arial Unicode MS</vt:lpstr>
      <vt:lpstr>Tema de Office</vt:lpstr>
      <vt:lpstr>PowerPoint 演示文稿</vt:lpstr>
      <vt:lpstr>PowerPoint 演示文稿</vt:lpstr>
      <vt:lpstr>PowerPoint 演示文稿</vt:lpstr>
      <vt:lpstr>PowerPoint 演示文稿</vt:lpstr>
      <vt:lpstr>Problema</vt:lpstr>
      <vt:lpstr>PowerPoint 演示文稿</vt:lpstr>
      <vt:lpstr>Justificación</vt:lpstr>
      <vt:lpstr>Alcance</vt:lpstr>
      <vt:lpstr>Delimitación</vt:lpstr>
      <vt:lpstr>Entregables Proyecto Formativo por Trimestre</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Aprendiz</cp:lastModifiedBy>
  <cp:revision>1</cp:revision>
  <dcterms:created xsi:type="dcterms:W3CDTF">2025-11-18T20:43:01Z</dcterms:created>
  <dcterms:modified xsi:type="dcterms:W3CDTF">2025-11-18T20:43:02Z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79F9C4E27D0945FC84221F01C8129916_12</vt:lpwstr>
  </property>
  <property fmtid="{D5CDD505-2E9C-101B-9397-08002B2CF9AE}" pid="3" name="KSOProductBuildVer">
    <vt:lpwstr>2058-12.2.0.23155</vt:lpwstr>
  </property>
</Properties>
</file>