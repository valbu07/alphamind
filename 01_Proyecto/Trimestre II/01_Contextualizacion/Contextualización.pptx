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Work Sans Medium"/>
      <p:regular r:id="rId17"/>
      <p:bold r:id="rId18"/>
      <p:italic r:id="rId19"/>
      <p:boldItalic r:id="rId20"/>
    </p:embeddedFont>
    <p:embeddedFont>
      <p:font typeface="Work Sans Ligh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Medium-boldItalic.fntdata"/><Relationship Id="rId11" Type="http://schemas.openxmlformats.org/officeDocument/2006/relationships/slide" Target="slides/slide7.xml"/><Relationship Id="rId22" Type="http://schemas.openxmlformats.org/officeDocument/2006/relationships/font" Target="fonts/WorkSansLight-bold.fntdata"/><Relationship Id="rId10" Type="http://schemas.openxmlformats.org/officeDocument/2006/relationships/slide" Target="slides/slide6.xml"/><Relationship Id="rId21" Type="http://schemas.openxmlformats.org/officeDocument/2006/relationships/font" Target="fonts/WorkSansLight-regular.fntdata"/><Relationship Id="rId13" Type="http://schemas.openxmlformats.org/officeDocument/2006/relationships/slide" Target="slides/slide9.xml"/><Relationship Id="rId24" Type="http://schemas.openxmlformats.org/officeDocument/2006/relationships/font" Target="fonts/WorkSansLight-boldItalic.fntdata"/><Relationship Id="rId12" Type="http://schemas.openxmlformats.org/officeDocument/2006/relationships/slide" Target="slides/slide8.xml"/><Relationship Id="rId23" Type="http://schemas.openxmlformats.org/officeDocument/2006/relationships/font" Target="fonts/WorkSansLigh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WorkSansMedium-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WorkSansMedium-italic.fntdata"/><Relationship Id="rId6" Type="http://schemas.openxmlformats.org/officeDocument/2006/relationships/slide" Target="slides/slide2.xml"/><Relationship Id="rId18" Type="http://schemas.openxmlformats.org/officeDocument/2006/relationships/font" Target="fonts/WorkSansMedium-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5" name="Shape 15"/>
        <p:cNvGrpSpPr/>
        <p:nvPr/>
      </p:nvGrpSpPr>
      <p:grpSpPr>
        <a:xfrm>
          <a:off x="0" y="0"/>
          <a:ext cx="0" cy="0"/>
          <a:chOff x="0" y="0"/>
          <a:chExt cx="0" cy="0"/>
        </a:xfrm>
      </p:grpSpPr>
      <p:pic>
        <p:nvPicPr>
          <p:cNvPr descr="Interfaz de usuario gráfica, Texto, Aplicación&#10;&#10;Descripción generada automáticamente" id="16" name="Google Shape;16;p2"/>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cabezado de sección">
  <p:cSld name="1_Encabezado de sección">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11027833" y="317431"/>
            <a:ext cx="811391"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9" name="Shape 19"/>
        <p:cNvGrpSpPr/>
        <p:nvPr/>
      </p:nvGrpSpPr>
      <p:grpSpPr>
        <a:xfrm>
          <a:off x="0" y="0"/>
          <a:ext cx="0" cy="0"/>
          <a:chOff x="0" y="0"/>
          <a:chExt cx="0" cy="0"/>
        </a:xfrm>
      </p:grpSpPr>
      <p:pic>
        <p:nvPicPr>
          <p:cNvPr descr="Patrón de fondo&#10;&#10;Descripción generada automáticamente" id="20" name="Google Shape;20;p4"/>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1" name="Google Shape;21;p4"/>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7" name="Shape 27"/>
        <p:cNvGrpSpPr/>
        <p:nvPr/>
      </p:nvGrpSpPr>
      <p:grpSpPr>
        <a:xfrm>
          <a:off x="0" y="0"/>
          <a:ext cx="0" cy="0"/>
          <a:chOff x="0" y="0"/>
          <a:chExt cx="0" cy="0"/>
        </a:xfrm>
      </p:grpSpPr>
      <p:sp>
        <p:nvSpPr>
          <p:cNvPr id="28" name="Google Shape;2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1" name="Shape 31"/>
        <p:cNvGrpSpPr/>
        <p:nvPr/>
      </p:nvGrpSpPr>
      <p:grpSpPr>
        <a:xfrm>
          <a:off x="0" y="0"/>
          <a:ext cx="0" cy="0"/>
          <a:chOff x="0" y="0"/>
          <a:chExt cx="0" cy="0"/>
        </a:xfrm>
      </p:grpSpPr>
      <p:sp>
        <p:nvSpPr>
          <p:cNvPr id="32" name="Google Shape;32;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7" name="Shape 37"/>
        <p:cNvGrpSpPr/>
        <p:nvPr/>
      </p:nvGrpSpPr>
      <p:grpSpPr>
        <a:xfrm>
          <a:off x="0" y="0"/>
          <a:ext cx="0" cy="0"/>
          <a:chOff x="0" y="0"/>
          <a:chExt cx="0" cy="0"/>
        </a:xfrm>
      </p:grpSpPr>
      <p:sp>
        <p:nvSpPr>
          <p:cNvPr id="38" name="Google Shape;3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3" name="Shape 43"/>
        <p:cNvGrpSpPr/>
        <p:nvPr/>
      </p:nvGrpSpPr>
      <p:grpSpPr>
        <a:xfrm>
          <a:off x="0" y="0"/>
          <a:ext cx="0" cy="0"/>
          <a:chOff x="0" y="0"/>
          <a:chExt cx="0" cy="0"/>
        </a:xfrm>
      </p:grpSpPr>
      <p:sp>
        <p:nvSpPr>
          <p:cNvPr id="44" name="Google Shape;44;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6" name="Google Shape;4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9" name="Shape 49"/>
        <p:cNvGrpSpPr/>
        <p:nvPr/>
      </p:nvGrpSpPr>
      <p:grpSpPr>
        <a:xfrm>
          <a:off x="0" y="0"/>
          <a:ext cx="0" cy="0"/>
          <a:chOff x="0" y="0"/>
          <a:chExt cx="0" cy="0"/>
        </a:xfrm>
      </p:grpSpPr>
      <p:sp>
        <p:nvSpPr>
          <p:cNvPr id="50" name="Google Shape;5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6" name="Shape 56"/>
        <p:cNvGrpSpPr/>
        <p:nvPr/>
      </p:nvGrpSpPr>
      <p:grpSpPr>
        <a:xfrm>
          <a:off x="0" y="0"/>
          <a:ext cx="0" cy="0"/>
          <a:chOff x="0" y="0"/>
          <a:chExt cx="0" cy="0"/>
        </a:xfrm>
      </p:grpSpPr>
      <p:sp>
        <p:nvSpPr>
          <p:cNvPr id="57" name="Google Shape;57;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5" name="Shape 65"/>
        <p:cNvGrpSpPr/>
        <p:nvPr/>
      </p:nvGrpSpPr>
      <p:grpSpPr>
        <a:xfrm>
          <a:off x="0" y="0"/>
          <a:ext cx="0" cy="0"/>
          <a:chOff x="0" y="0"/>
          <a:chExt cx="0" cy="0"/>
        </a:xfrm>
      </p:grpSpPr>
      <p:sp>
        <p:nvSpPr>
          <p:cNvPr id="66" name="Google Shape;6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0" name="Shape 70"/>
        <p:cNvGrpSpPr/>
        <p:nvPr/>
      </p:nvGrpSpPr>
      <p:grpSpPr>
        <a:xfrm>
          <a:off x="0" y="0"/>
          <a:ext cx="0" cy="0"/>
          <a:chOff x="0" y="0"/>
          <a:chExt cx="0" cy="0"/>
        </a:xfrm>
      </p:grpSpPr>
      <p:sp>
        <p:nvSpPr>
          <p:cNvPr id="71" name="Google Shape;71;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1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7" name="Shape 77"/>
        <p:cNvGrpSpPr/>
        <p:nvPr/>
      </p:nvGrpSpPr>
      <p:grpSpPr>
        <a:xfrm>
          <a:off x="0" y="0"/>
          <a:ext cx="0" cy="0"/>
          <a:chOff x="0" y="0"/>
          <a:chExt cx="0" cy="0"/>
        </a:xfrm>
      </p:grpSpPr>
      <p:sp>
        <p:nvSpPr>
          <p:cNvPr id="78" name="Google Shape;78;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4"/>
          <p:cNvSpPr/>
          <p:nvPr>
            <p:ph idx="2" type="pic"/>
          </p:nvPr>
        </p:nvSpPr>
        <p:spPr>
          <a:xfrm>
            <a:off x="5183188" y="987425"/>
            <a:ext cx="6172200" cy="4873625"/>
          </a:xfrm>
          <a:prstGeom prst="rect">
            <a:avLst/>
          </a:prstGeom>
          <a:noFill/>
          <a:ln>
            <a:noFill/>
          </a:ln>
        </p:spPr>
      </p:sp>
      <p:sp>
        <p:nvSpPr>
          <p:cNvPr id="80" name="Google Shape;80;p1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4" name="Shape 84"/>
        <p:cNvGrpSpPr/>
        <p:nvPr/>
      </p:nvGrpSpPr>
      <p:grpSpPr>
        <a:xfrm>
          <a:off x="0" y="0"/>
          <a:ext cx="0" cy="0"/>
          <a:chOff x="0" y="0"/>
          <a:chExt cx="0" cy="0"/>
        </a:xfrm>
      </p:grpSpPr>
      <p:sp>
        <p:nvSpPr>
          <p:cNvPr id="85" name="Google Shape;8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90" name="Shape 90"/>
        <p:cNvGrpSpPr/>
        <p:nvPr/>
      </p:nvGrpSpPr>
      <p:grpSpPr>
        <a:xfrm>
          <a:off x="0" y="0"/>
          <a:ext cx="0" cy="0"/>
          <a:chOff x="0" y="0"/>
          <a:chExt cx="0" cy="0"/>
        </a:xfrm>
      </p:grpSpPr>
      <p:sp>
        <p:nvSpPr>
          <p:cNvPr id="91" name="Google Shape;91;p1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3.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1" Type="http://schemas.openxmlformats.org/officeDocument/2006/relationships/hyperlink" Target="https://github.com/Valbu07/AlphaMind/tree/main/01_Proyecto/Trimestre%20III/03_Diccionario_de_Datos" TargetMode="External"/><Relationship Id="rId10" Type="http://schemas.openxmlformats.org/officeDocument/2006/relationships/hyperlink" Target="https://github.com/Valbu07/AlphaMind/tree/main/01_Proyecto/Trimestre%20III/02_Normalizacion" TargetMode="External"/><Relationship Id="rId13" Type="http://schemas.openxmlformats.org/officeDocument/2006/relationships/hyperlink" Target="https://github.com/Valbu07/AlphaMind/tree/main/01_Proyecto/Trimestre%20III/05_Diagrama_Distribuccion" TargetMode="External"/><Relationship Id="rId12" Type="http://schemas.openxmlformats.org/officeDocument/2006/relationships/hyperlink" Target="https://github.com/Valbu07/AlphaMind/tree/main/01_Proyecto/Trimestre%20III/04_Diagramas_Clases" TargetMode="External"/><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github.com/Valbu07/AlphaMind/tree/main/01_Proyecto/Trimestre%20II/02_Mapa_Procesos" TargetMode="External"/><Relationship Id="rId4" Type="http://schemas.openxmlformats.org/officeDocument/2006/relationships/hyperlink" Target="https://github.com/Valbu07/AlphaMind/tree/main/01_Proyecto/Trimestre%20II/03_Recoleccion_de_Informacion" TargetMode="External"/><Relationship Id="rId9" Type="http://schemas.openxmlformats.org/officeDocument/2006/relationships/hyperlink" Target="https://github.com/Valbu07/AlphaMind/tree/main/01_Proyecto/Trimestre%20III/01_Modelo_Relacional" TargetMode="External"/><Relationship Id="rId15" Type="http://schemas.openxmlformats.org/officeDocument/2006/relationships/hyperlink" Target="https://github.com/Valbu07/AlphaMind/tree/main/01_Proyecto/Trimestre%20IV/01_Construccion_Base_de_Datos" TargetMode="External"/><Relationship Id="rId14" Type="http://schemas.openxmlformats.org/officeDocument/2006/relationships/hyperlink" Target="https://github.com/Valbu07/AlphaMind/tree/main/01_Proyecto/Trimestre%20III/06_Prototipo/Administrador" TargetMode="External"/><Relationship Id="rId17" Type="http://schemas.openxmlformats.org/officeDocument/2006/relationships/hyperlink" Target="https://github.com/Valbu07/AlphaMind/tree/main/01_Proyecto/Trimestre%20IV/03_Encriptacion/app" TargetMode="External"/><Relationship Id="rId16" Type="http://schemas.openxmlformats.org/officeDocument/2006/relationships/hyperlink" Target="https://github.com/Valbu07/AlphaMind/tree/main/01_Proyecto/Trimestre%20IV/02_Uso_Base_Datos" TargetMode="External"/><Relationship Id="rId5" Type="http://schemas.openxmlformats.org/officeDocument/2006/relationships/hyperlink" Target="https://github.com/Valbu07/AlphaMind/tree/main/01_Proyecto/Trimestre%20II/04_Requerimientos" TargetMode="External"/><Relationship Id="rId19" Type="http://schemas.openxmlformats.org/officeDocument/2006/relationships/image" Target="../media/image6.png"/><Relationship Id="rId6" Type="http://schemas.openxmlformats.org/officeDocument/2006/relationships/hyperlink" Target="https://github.com/Valbu07/AlphaMind/tree/main/01_Proyecto/Trimestre%20II/05_Casos_de_Uso" TargetMode="External"/><Relationship Id="rId18" Type="http://schemas.openxmlformats.org/officeDocument/2006/relationships/image" Target="../media/image3.png"/><Relationship Id="rId7" Type="http://schemas.openxmlformats.org/officeDocument/2006/relationships/hyperlink" Target="https://github.com/Valbu07/AlphaMind/tree/main/01_Proyecto/Trimestre%20II/06_Mockup" TargetMode="External"/><Relationship Id="rId8" Type="http://schemas.openxmlformats.org/officeDocument/2006/relationships/hyperlink" Target="https://github.com/Valbu07/AlphaMind/tree/main/01_Proyecto/Trimestre%20II/07_Ficha_Tecnic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nvSpPr>
        <p:spPr>
          <a:xfrm>
            <a:off x="995422" y="2551837"/>
            <a:ext cx="6453678"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6000" u="none" cap="none" strike="noStrike">
                <a:solidFill>
                  <a:srgbClr val="404040"/>
                </a:solidFill>
                <a:latin typeface="Calibri"/>
                <a:ea typeface="Calibri"/>
                <a:cs typeface="Calibri"/>
                <a:sym typeface="Calibri"/>
              </a:rPr>
              <a:t>ALPHAMIND</a:t>
            </a:r>
            <a:endParaRPr/>
          </a:p>
        </p:txBody>
      </p:sp>
      <p:sp>
        <p:nvSpPr>
          <p:cNvPr id="102" name="Google Shape;102;p17"/>
          <p:cNvSpPr txBox="1"/>
          <p:nvPr/>
        </p:nvSpPr>
        <p:spPr>
          <a:xfrm>
            <a:off x="995421" y="3361983"/>
            <a:ext cx="3854165" cy="4770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MX" sz="1100">
                <a:solidFill>
                  <a:srgbClr val="404040"/>
                </a:solidFill>
                <a:latin typeface="Calibri"/>
                <a:ea typeface="Calibri"/>
                <a:cs typeface="Calibri"/>
                <a:sym typeface="Calibri"/>
              </a:rPr>
              <a:t>Plataforma integral para la optimización de tareas y rendimiento en CDA </a:t>
            </a:r>
            <a:r>
              <a:rPr b="1" i="0" lang="es-MX" sz="1400">
                <a:solidFill>
                  <a:srgbClr val="404040"/>
                </a:solidFill>
                <a:latin typeface="Calibri"/>
                <a:ea typeface="Calibri"/>
                <a:cs typeface="Calibri"/>
                <a:sym typeface="Calibri"/>
              </a:rPr>
              <a:t>Cediplus</a:t>
            </a:r>
            <a:r>
              <a:rPr b="1" i="0" lang="es-MX" sz="1100">
                <a:solidFill>
                  <a:srgbClr val="404040"/>
                </a:solidFill>
                <a:latin typeface="Calibri"/>
                <a:ea typeface="Calibri"/>
                <a:cs typeface="Calibri"/>
                <a:sym typeface="Calibri"/>
              </a:rPr>
              <a:t> Soacha.</a:t>
            </a:r>
            <a:endParaRPr sz="1100">
              <a:solidFill>
                <a:schemeClr val="dk1"/>
              </a:solidFill>
              <a:latin typeface="Calibri"/>
              <a:ea typeface="Calibri"/>
              <a:cs typeface="Calibri"/>
              <a:sym typeface="Calibri"/>
            </a:endParaRPr>
          </a:p>
        </p:txBody>
      </p:sp>
      <p:sp>
        <p:nvSpPr>
          <p:cNvPr id="103" name="Google Shape;103;p17"/>
          <p:cNvSpPr/>
          <p:nvPr/>
        </p:nvSpPr>
        <p:spPr>
          <a:xfrm>
            <a:off x="0" y="0"/>
            <a:ext cx="12192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4" name="Google Shape;104;p17"/>
          <p:cNvPicPr preferRelativeResize="0"/>
          <p:nvPr/>
        </p:nvPicPr>
        <p:blipFill rotWithShape="1">
          <a:blip r:embed="rId3">
            <a:alphaModFix/>
          </a:blip>
          <a:srcRect b="0" l="0" r="0" t="0"/>
          <a:stretch/>
        </p:blipFill>
        <p:spPr>
          <a:xfrm>
            <a:off x="6421654" y="2527066"/>
            <a:ext cx="2001545" cy="1896201"/>
          </a:xfrm>
          <a:prstGeom prst="rect">
            <a:avLst/>
          </a:prstGeom>
          <a:noFill/>
          <a:ln>
            <a:noFill/>
          </a:ln>
        </p:spPr>
      </p:pic>
      <p:pic>
        <p:nvPicPr>
          <p:cNvPr id="105" name="Google Shape;105;p17"/>
          <p:cNvPicPr preferRelativeResize="0"/>
          <p:nvPr/>
        </p:nvPicPr>
        <p:blipFill rotWithShape="1">
          <a:blip r:embed="rId4">
            <a:alphaModFix/>
          </a:blip>
          <a:srcRect b="0" l="0" r="0" t="0"/>
          <a:stretch/>
        </p:blipFill>
        <p:spPr>
          <a:xfrm>
            <a:off x="8423199" y="2956053"/>
            <a:ext cx="1857375" cy="1038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cxnSp>
        <p:nvCxnSpPr>
          <p:cNvPr id="110" name="Google Shape;110;p18"/>
          <p:cNvCxnSpPr/>
          <p:nvPr/>
        </p:nvCxnSpPr>
        <p:spPr>
          <a:xfrm>
            <a:off x="5227899" y="3321934"/>
            <a:ext cx="1736203" cy="0"/>
          </a:xfrm>
          <a:prstGeom prst="straightConnector1">
            <a:avLst/>
          </a:prstGeom>
          <a:noFill/>
          <a:ln cap="flat" cmpd="sng" w="9525">
            <a:solidFill>
              <a:schemeClr val="lt1"/>
            </a:solidFill>
            <a:prstDash val="solid"/>
            <a:miter lim="800000"/>
            <a:headEnd len="sm" w="sm" type="none"/>
            <a:tailEnd len="sm" w="sm" type="none"/>
          </a:ln>
        </p:spPr>
      </p:cxnSp>
      <p:sp>
        <p:nvSpPr>
          <p:cNvPr id="111" name="Google Shape;111;p18"/>
          <p:cNvSpPr txBox="1"/>
          <p:nvPr/>
        </p:nvSpPr>
        <p:spPr>
          <a:xfrm>
            <a:off x="4168816" y="3463724"/>
            <a:ext cx="3854368"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1600">
                <a:solidFill>
                  <a:schemeClr val="lt1"/>
                </a:solidFill>
                <a:latin typeface="Work Sans Light"/>
                <a:ea typeface="Work Sans Light"/>
                <a:cs typeface="Work Sans Light"/>
                <a:sym typeface="Work Sans Light"/>
              </a:rPr>
              <a:t>Rodríguez Clavijo Danna Valentina</a:t>
            </a:r>
            <a:endParaRPr/>
          </a:p>
          <a:p>
            <a:pPr indent="0" lvl="0" marL="0" marR="0" rtl="0" algn="ctr">
              <a:spcBef>
                <a:spcPts val="0"/>
              </a:spcBef>
              <a:spcAft>
                <a:spcPts val="0"/>
              </a:spcAft>
              <a:buNone/>
            </a:pPr>
            <a:r>
              <a:rPr lang="es-MX" sz="1600">
                <a:solidFill>
                  <a:schemeClr val="lt1"/>
                </a:solidFill>
                <a:latin typeface="Work Sans Light"/>
                <a:ea typeface="Work Sans Light"/>
                <a:cs typeface="Work Sans Light"/>
                <a:sym typeface="Work Sans Light"/>
              </a:rPr>
              <a:t>Machado Muñoz Dayana</a:t>
            </a:r>
            <a:endParaRPr/>
          </a:p>
          <a:p>
            <a:pPr indent="0" lvl="0" marL="0" marR="0" rtl="0" algn="ctr">
              <a:spcBef>
                <a:spcPts val="0"/>
              </a:spcBef>
              <a:spcAft>
                <a:spcPts val="0"/>
              </a:spcAft>
              <a:buNone/>
            </a:pPr>
            <a:r>
              <a:rPr lang="es-MX" sz="1600">
                <a:solidFill>
                  <a:schemeClr val="lt1"/>
                </a:solidFill>
                <a:latin typeface="Work Sans Light"/>
                <a:ea typeface="Work Sans Light"/>
                <a:cs typeface="Work Sans Light"/>
                <a:sym typeface="Work Sans Light"/>
              </a:rPr>
              <a:t>Valbuena Rodríguez Daniel Andrés</a:t>
            </a:r>
            <a:endParaRPr/>
          </a:p>
        </p:txBody>
      </p:sp>
      <p:sp>
        <p:nvSpPr>
          <p:cNvPr id="112" name="Google Shape;112;p18"/>
          <p:cNvSpPr txBox="1"/>
          <p:nvPr/>
        </p:nvSpPr>
        <p:spPr>
          <a:xfrm>
            <a:off x="1068888" y="5279998"/>
            <a:ext cx="10054224"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600">
                <a:solidFill>
                  <a:schemeClr val="lt1"/>
                </a:solidFill>
                <a:latin typeface="Work Sans Light"/>
                <a:ea typeface="Work Sans Light"/>
                <a:cs typeface="Work Sans Light"/>
                <a:sym typeface="Work Sans Light"/>
              </a:rPr>
              <a:t>Servicio Nacional de Aprendizaje –SENA, Centro de Electricidad Electrónica y Telecomunicaciones</a:t>
            </a:r>
            <a:endParaRPr/>
          </a:p>
          <a:p>
            <a:pPr indent="0" lvl="0" marL="0" marR="0" rtl="0" algn="ctr">
              <a:spcBef>
                <a:spcPts val="0"/>
              </a:spcBef>
              <a:spcAft>
                <a:spcPts val="0"/>
              </a:spcAft>
              <a:buNone/>
            </a:pPr>
            <a:r>
              <a:rPr b="1" lang="es-MX" sz="1600">
                <a:solidFill>
                  <a:schemeClr val="lt1"/>
                </a:solidFill>
                <a:latin typeface="Work Sans Light"/>
                <a:ea typeface="Work Sans Light"/>
                <a:cs typeface="Work Sans Light"/>
                <a:sym typeface="Work Sans Light"/>
              </a:rPr>
              <a:t>Técnico en Programación de Software - TPS, Primer Trimestre</a:t>
            </a:r>
            <a:endParaRPr/>
          </a:p>
          <a:p>
            <a:pPr indent="0" lvl="0" marL="0" marR="0" rtl="0" algn="ctr">
              <a:spcBef>
                <a:spcPts val="0"/>
              </a:spcBef>
              <a:spcAft>
                <a:spcPts val="0"/>
              </a:spcAft>
              <a:buNone/>
            </a:pPr>
            <a:r>
              <a:rPr b="1" lang="es-MX" sz="1600">
                <a:solidFill>
                  <a:schemeClr val="lt1"/>
                </a:solidFill>
                <a:latin typeface="Work Sans Light"/>
                <a:ea typeface="Work Sans Light"/>
                <a:cs typeface="Work Sans Light"/>
                <a:sym typeface="Work Sans Light"/>
              </a:rPr>
              <a:t>Instructor Albeiro Ramos</a:t>
            </a:r>
            <a:endParaRPr/>
          </a:p>
          <a:p>
            <a:pPr indent="0" lvl="0" marL="0" marR="0" rtl="0" algn="ctr">
              <a:spcBef>
                <a:spcPts val="0"/>
              </a:spcBef>
              <a:spcAft>
                <a:spcPts val="0"/>
              </a:spcAft>
              <a:buNone/>
            </a:pPr>
            <a:r>
              <a:rPr b="1" lang="es-MX" sz="1600">
                <a:solidFill>
                  <a:schemeClr val="lt1"/>
                </a:solidFill>
                <a:latin typeface="Work Sans Light"/>
                <a:ea typeface="Work Sans Light"/>
                <a:cs typeface="Work Sans Light"/>
                <a:sym typeface="Work Sans Light"/>
              </a:rPr>
              <a:t>Bogotá, 25 de marzo de 2023</a:t>
            </a:r>
            <a:endParaRPr b="1" sz="1600">
              <a:solidFill>
                <a:schemeClr val="lt1"/>
              </a:solidFill>
              <a:latin typeface="Work Sans Light"/>
              <a:ea typeface="Work Sans Light"/>
              <a:cs typeface="Work Sans Light"/>
              <a:sym typeface="Work Sans Light"/>
            </a:endParaRPr>
          </a:p>
        </p:txBody>
      </p:sp>
      <p:sp>
        <p:nvSpPr>
          <p:cNvPr id="113" name="Google Shape;113;p18"/>
          <p:cNvSpPr txBox="1"/>
          <p:nvPr/>
        </p:nvSpPr>
        <p:spPr>
          <a:xfrm>
            <a:off x="3687631" y="1730836"/>
            <a:ext cx="4656577"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6600">
                <a:solidFill>
                  <a:schemeClr val="lt1"/>
                </a:solidFill>
                <a:latin typeface="Calibri"/>
                <a:ea typeface="Calibri"/>
                <a:cs typeface="Calibri"/>
                <a:sym typeface="Calibri"/>
              </a:rPr>
              <a:t>ALPHAMIND</a:t>
            </a:r>
            <a:endParaRPr/>
          </a:p>
        </p:txBody>
      </p:sp>
      <p:sp>
        <p:nvSpPr>
          <p:cNvPr id="114" name="Google Shape;114;p18"/>
          <p:cNvSpPr txBox="1"/>
          <p:nvPr/>
        </p:nvSpPr>
        <p:spPr>
          <a:xfrm>
            <a:off x="4088838" y="2601754"/>
            <a:ext cx="385416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MX" sz="1200">
                <a:solidFill>
                  <a:schemeClr val="lt1"/>
                </a:solidFill>
                <a:latin typeface="Calibri"/>
                <a:ea typeface="Calibri"/>
                <a:cs typeface="Calibri"/>
                <a:sym typeface="Calibri"/>
              </a:rPr>
              <a:t>Plataforma integral para la optimización de tareas y rendimiento en CDA Cediplus Soacha.</a:t>
            </a:r>
            <a:endParaRPr sz="12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19"/>
          <p:cNvSpPr/>
          <p:nvPr/>
        </p:nvSpPr>
        <p:spPr>
          <a:xfrm>
            <a:off x="717629" y="1661897"/>
            <a:ext cx="2939970"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 name="Google Shape;120;p19"/>
          <p:cNvSpPr txBox="1"/>
          <p:nvPr/>
        </p:nvSpPr>
        <p:spPr>
          <a:xfrm>
            <a:off x="1157467" y="1469719"/>
            <a:ext cx="351474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Light"/>
              <a:buNone/>
            </a:pPr>
            <a:r>
              <a:rPr lang="es-MX" sz="3600">
                <a:solidFill>
                  <a:srgbClr val="38AA00"/>
                </a:solidFill>
                <a:latin typeface="Work Sans Light"/>
                <a:ea typeface="Work Sans Light"/>
                <a:cs typeface="Work Sans Light"/>
                <a:sym typeface="Work Sans Light"/>
              </a:rPr>
              <a:t>Introducción</a:t>
            </a:r>
            <a:endParaRPr/>
          </a:p>
        </p:txBody>
      </p:sp>
      <p:sp>
        <p:nvSpPr>
          <p:cNvPr id="121" name="Google Shape;121;p19"/>
          <p:cNvSpPr txBox="1"/>
          <p:nvPr/>
        </p:nvSpPr>
        <p:spPr>
          <a:xfrm>
            <a:off x="241976" y="2232799"/>
            <a:ext cx="5345700" cy="304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600">
                <a:solidFill>
                  <a:schemeClr val="dk1"/>
                </a:solidFill>
                <a:latin typeface="Work Sans Light"/>
                <a:ea typeface="Work Sans Light"/>
                <a:cs typeface="Work Sans Light"/>
                <a:sym typeface="Work Sans Light"/>
              </a:rPr>
              <a:t>Cediplus es una empresa de Soacha que ofrece servicios técnico-mecánicos para vehículos. Aunque su área operativa es eficiente, la parte administrativa presenta desestruración en tareas, bajo seguimiento del personal y baja productividad.</a:t>
            </a:r>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MX" sz="1600">
                <a:solidFill>
                  <a:schemeClr val="dk1"/>
                </a:solidFill>
                <a:latin typeface="Work Sans Light"/>
                <a:ea typeface="Work Sans Light"/>
                <a:cs typeface="Work Sans Light"/>
                <a:sym typeface="Work Sans Light"/>
              </a:rPr>
              <a:t>Esta presentación describe el proyecto Alphamind, un sistema web para optimizar tareas administrativas. Se expone el problema detectado, los objetivos propuestos, la justificación de la solución, el alcance funcional del sistema y la delimitación del proyecto.</a:t>
            </a:r>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p:txBody>
      </p:sp>
      <p:pic>
        <p:nvPicPr>
          <p:cNvPr descr="CDA CEDIPLUS SOACHA" id="122" name="Google Shape;122;p19"/>
          <p:cNvPicPr preferRelativeResize="0"/>
          <p:nvPr/>
        </p:nvPicPr>
        <p:blipFill rotWithShape="1">
          <a:blip r:embed="rId4">
            <a:alphaModFix/>
          </a:blip>
          <a:srcRect b="0" l="0" r="16877" t="0"/>
          <a:stretch/>
        </p:blipFill>
        <p:spPr>
          <a:xfrm>
            <a:off x="6491467" y="0"/>
            <a:ext cx="5700533"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20"/>
          <p:cNvSpPr txBox="1"/>
          <p:nvPr/>
        </p:nvSpPr>
        <p:spPr>
          <a:xfrm>
            <a:off x="456236" y="416689"/>
            <a:ext cx="10515600"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Work Sans Medium"/>
              <a:buNone/>
            </a:pPr>
            <a:r>
              <a:rPr lang="es-MX" sz="4400">
                <a:solidFill>
                  <a:schemeClr val="lt1"/>
                </a:solidFill>
                <a:latin typeface="Work Sans Medium"/>
                <a:ea typeface="Work Sans Medium"/>
                <a:cs typeface="Work Sans Medium"/>
                <a:sym typeface="Work Sans Medium"/>
              </a:rPr>
              <a:t>Nombre del Proyecto</a:t>
            </a:r>
            <a:endParaRPr/>
          </a:p>
        </p:txBody>
      </p:sp>
      <p:sp>
        <p:nvSpPr>
          <p:cNvPr id="128" name="Google Shape;128;p20"/>
          <p:cNvSpPr txBox="1"/>
          <p:nvPr/>
        </p:nvSpPr>
        <p:spPr>
          <a:xfrm>
            <a:off x="6653014" y="2489547"/>
            <a:ext cx="4547336"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3200">
                <a:solidFill>
                  <a:schemeClr val="dk1"/>
                </a:solidFill>
                <a:latin typeface="Work Sans Light"/>
                <a:ea typeface="Work Sans Light"/>
                <a:cs typeface="Work Sans Light"/>
                <a:sym typeface="Work Sans Light"/>
              </a:rPr>
              <a:t>Problema</a:t>
            </a:r>
            <a:endParaRPr/>
          </a:p>
          <a:p>
            <a:pPr indent="0" lvl="0" marL="0" marR="0" rtl="0" algn="l">
              <a:spcBef>
                <a:spcPts val="0"/>
              </a:spcBef>
              <a:spcAft>
                <a:spcPts val="0"/>
              </a:spcAft>
              <a:buNone/>
            </a:pPr>
            <a:r>
              <a:rPr b="1" lang="es-MX" sz="3200">
                <a:solidFill>
                  <a:schemeClr val="dk1"/>
                </a:solidFill>
                <a:latin typeface="Work Sans Light"/>
                <a:ea typeface="Work Sans Light"/>
                <a:cs typeface="Work Sans Light"/>
                <a:sym typeface="Work Sans Light"/>
              </a:rPr>
              <a:t>Objetivos</a:t>
            </a:r>
            <a:endParaRPr/>
          </a:p>
          <a:p>
            <a:pPr indent="0" lvl="0" marL="0" marR="0" rtl="0" algn="l">
              <a:spcBef>
                <a:spcPts val="0"/>
              </a:spcBef>
              <a:spcAft>
                <a:spcPts val="0"/>
              </a:spcAft>
              <a:buNone/>
            </a:pPr>
            <a:r>
              <a:rPr b="1" lang="es-MX" sz="3200">
                <a:solidFill>
                  <a:schemeClr val="dk1"/>
                </a:solidFill>
                <a:latin typeface="Work Sans Light"/>
                <a:ea typeface="Work Sans Light"/>
                <a:cs typeface="Work Sans Light"/>
                <a:sym typeface="Work Sans Light"/>
              </a:rPr>
              <a:t>Justificación</a:t>
            </a:r>
            <a:endParaRPr/>
          </a:p>
          <a:p>
            <a:pPr indent="0" lvl="0" marL="0" marR="0" rtl="0" algn="l">
              <a:spcBef>
                <a:spcPts val="0"/>
              </a:spcBef>
              <a:spcAft>
                <a:spcPts val="0"/>
              </a:spcAft>
              <a:buNone/>
            </a:pPr>
            <a:r>
              <a:rPr b="1" lang="es-MX" sz="3200">
                <a:solidFill>
                  <a:schemeClr val="dk1"/>
                </a:solidFill>
                <a:latin typeface="Work Sans Light"/>
                <a:ea typeface="Work Sans Light"/>
                <a:cs typeface="Work Sans Light"/>
                <a:sym typeface="Work Sans Light"/>
              </a:rPr>
              <a:t>Alcance</a:t>
            </a:r>
            <a:endParaRPr/>
          </a:p>
          <a:p>
            <a:pPr indent="0" lvl="0" marL="0" marR="0" rtl="0" algn="l">
              <a:spcBef>
                <a:spcPts val="0"/>
              </a:spcBef>
              <a:spcAft>
                <a:spcPts val="0"/>
              </a:spcAft>
              <a:buNone/>
            </a:pPr>
            <a:r>
              <a:rPr b="1" lang="es-MX" sz="3200">
                <a:solidFill>
                  <a:schemeClr val="dk1"/>
                </a:solidFill>
                <a:latin typeface="Work Sans Light"/>
                <a:ea typeface="Work Sans Light"/>
                <a:cs typeface="Work Sans Light"/>
                <a:sym typeface="Work Sans Light"/>
              </a:rPr>
              <a:t>Delimitación</a:t>
            </a:r>
            <a:endParaRPr/>
          </a:p>
          <a:p>
            <a:pPr indent="0" lvl="0" marL="0" marR="0" rtl="0" algn="l">
              <a:spcBef>
                <a:spcPts val="0"/>
              </a:spcBef>
              <a:spcAft>
                <a:spcPts val="0"/>
              </a:spcAft>
              <a:buNone/>
            </a:pPr>
            <a:r>
              <a:rPr b="1" lang="es-MX" sz="3200">
                <a:solidFill>
                  <a:schemeClr val="dk1"/>
                </a:solidFill>
                <a:latin typeface="Work Sans Light"/>
                <a:ea typeface="Work Sans Light"/>
                <a:cs typeface="Work Sans Light"/>
                <a:sym typeface="Work Sans Light"/>
              </a:rPr>
              <a:t>Entregables Trimestre</a:t>
            </a:r>
            <a:endParaRPr/>
          </a:p>
        </p:txBody>
      </p:sp>
      <p:pic>
        <p:nvPicPr>
          <p:cNvPr id="129" name="Google Shape;129;p20"/>
          <p:cNvPicPr preferRelativeResize="0"/>
          <p:nvPr/>
        </p:nvPicPr>
        <p:blipFill rotWithShape="1">
          <a:blip r:embed="rId4">
            <a:alphaModFix/>
          </a:blip>
          <a:srcRect b="0" l="0" r="0" t="0"/>
          <a:stretch/>
        </p:blipFill>
        <p:spPr>
          <a:xfrm>
            <a:off x="1648805" y="2865071"/>
            <a:ext cx="1756908" cy="1615547"/>
          </a:xfrm>
          <a:prstGeom prst="rect">
            <a:avLst/>
          </a:prstGeom>
          <a:noFill/>
          <a:ln>
            <a:noFill/>
          </a:ln>
        </p:spPr>
      </p:pic>
      <p:pic>
        <p:nvPicPr>
          <p:cNvPr id="130" name="Google Shape;130;p20"/>
          <p:cNvPicPr preferRelativeResize="0"/>
          <p:nvPr/>
        </p:nvPicPr>
        <p:blipFill rotWithShape="1">
          <a:blip r:embed="rId5">
            <a:alphaModFix/>
          </a:blip>
          <a:srcRect b="0" l="0" r="0" t="0"/>
          <a:stretch/>
        </p:blipFill>
        <p:spPr>
          <a:xfrm>
            <a:off x="3405722" y="3147038"/>
            <a:ext cx="1881344" cy="10516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Problema</a:t>
            </a:r>
            <a:endParaRPr/>
          </a:p>
        </p:txBody>
      </p:sp>
      <p:sp>
        <p:nvSpPr>
          <p:cNvPr id="136" name="Google Shape;136;p21"/>
          <p:cNvSpPr txBox="1"/>
          <p:nvPr/>
        </p:nvSpPr>
        <p:spPr>
          <a:xfrm>
            <a:off x="356796" y="1760918"/>
            <a:ext cx="5357100" cy="10773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600">
                <a:solidFill>
                  <a:schemeClr val="dk1"/>
                </a:solidFill>
                <a:latin typeface="Work Sans Light"/>
                <a:ea typeface="Work Sans Light"/>
                <a:cs typeface="Work Sans Light"/>
                <a:sym typeface="Work Sans Light"/>
              </a:rPr>
              <a:t>Cediplus, empresa de servicios técnico-mecánicos para vehículos, ubicada en Soacha–Cundinamarca </a:t>
            </a:r>
            <a:endParaRPr/>
          </a:p>
          <a:p>
            <a:pPr indent="0" lvl="0" marL="0" marR="0" rtl="0" algn="just">
              <a:spcBef>
                <a:spcPts val="0"/>
              </a:spcBef>
              <a:spcAft>
                <a:spcPts val="0"/>
              </a:spcAft>
              <a:buNone/>
            </a:pPr>
            <a:r>
              <a:rPr lang="es-MX" sz="1600">
                <a:solidFill>
                  <a:schemeClr val="dk1"/>
                </a:solidFill>
                <a:latin typeface="Work Sans Light"/>
                <a:ea typeface="Work Sans Light"/>
                <a:cs typeface="Work Sans Light"/>
                <a:sym typeface="Work Sans Light"/>
              </a:rPr>
              <a:t>destaca por su eficiente control operativo en reparaciones y mantenimiento.</a:t>
            </a:r>
            <a:endParaRPr/>
          </a:p>
        </p:txBody>
      </p:sp>
      <p:sp>
        <p:nvSpPr>
          <p:cNvPr id="137" name="Google Shape;137;p21"/>
          <p:cNvSpPr txBox="1"/>
          <p:nvPr/>
        </p:nvSpPr>
        <p:spPr>
          <a:xfrm>
            <a:off x="356796" y="3317329"/>
            <a:ext cx="5956500" cy="28014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600">
                <a:solidFill>
                  <a:schemeClr val="dk1"/>
                </a:solidFill>
                <a:latin typeface="Work Sans Light"/>
                <a:ea typeface="Work Sans Light"/>
                <a:cs typeface="Work Sans Light"/>
                <a:sym typeface="Work Sans Light"/>
              </a:rPr>
              <a:t>Cediplus necesita optimizar tres procesos administrativos clave: </a:t>
            </a:r>
            <a:endParaRPr/>
          </a:p>
          <a:p>
            <a:pPr indent="-342900" lvl="0" marL="342900" marR="0" rtl="0" algn="just">
              <a:spcBef>
                <a:spcPts val="0"/>
              </a:spcBef>
              <a:spcAft>
                <a:spcPts val="0"/>
              </a:spcAft>
              <a:buClr>
                <a:schemeClr val="dk1"/>
              </a:buClr>
              <a:buSzPts val="1600"/>
              <a:buFont typeface="Work Sans Light"/>
              <a:buAutoNum type="arabicParenR"/>
            </a:pPr>
            <a:r>
              <a:rPr lang="es-MX" sz="1600">
                <a:solidFill>
                  <a:schemeClr val="dk1"/>
                </a:solidFill>
                <a:latin typeface="Work Sans Light"/>
                <a:ea typeface="Work Sans Light"/>
                <a:cs typeface="Work Sans Light"/>
                <a:sym typeface="Work Sans Light"/>
              </a:rPr>
              <a:t>Gestión de tareas, implementando sistemas de control y seguimiento efectivos</a:t>
            </a:r>
            <a:endParaRPr/>
          </a:p>
          <a:p>
            <a:pPr indent="-342900" lvl="0" marL="342900" marR="0" rtl="0" algn="just">
              <a:spcBef>
                <a:spcPts val="0"/>
              </a:spcBef>
              <a:spcAft>
                <a:spcPts val="0"/>
              </a:spcAft>
              <a:buClr>
                <a:schemeClr val="dk1"/>
              </a:buClr>
              <a:buSzPts val="1600"/>
              <a:buFont typeface="Work Sans Light"/>
              <a:buAutoNum type="arabicParenR"/>
            </a:pPr>
            <a:r>
              <a:rPr lang="es-MX" sz="1600">
                <a:solidFill>
                  <a:schemeClr val="dk1"/>
                </a:solidFill>
                <a:latin typeface="Work Sans Light"/>
                <a:ea typeface="Work Sans Light"/>
                <a:cs typeface="Work Sans Light"/>
                <a:sym typeface="Work Sans Light"/>
              </a:rPr>
              <a:t>Comunicación interna, reestructurando canales para eliminar fragmentación; y</a:t>
            </a:r>
            <a:endParaRPr/>
          </a:p>
          <a:p>
            <a:pPr indent="-342900" lvl="0" marL="342900" marR="0" rtl="0" algn="just">
              <a:spcBef>
                <a:spcPts val="0"/>
              </a:spcBef>
              <a:spcAft>
                <a:spcPts val="0"/>
              </a:spcAft>
              <a:buClr>
                <a:schemeClr val="dk1"/>
              </a:buClr>
              <a:buSzPts val="1600"/>
              <a:buFont typeface="Work Sans Light"/>
              <a:buAutoNum type="arabicParenR"/>
            </a:pPr>
            <a:r>
              <a:rPr lang="es-MX" sz="1600">
                <a:solidFill>
                  <a:schemeClr val="dk1"/>
                </a:solidFill>
                <a:latin typeface="Work Sans Light"/>
                <a:ea typeface="Work Sans Light"/>
                <a:cs typeface="Work Sans Light"/>
                <a:sym typeface="Work Sans Light"/>
              </a:rPr>
              <a:t> Evaluación de desempeño, con herramientas para un seguimiento objetivo. Estos procesos, interconectados, requieren mejora simultánea, con priorización de tareas urgentes mediante metodologías claras y una toma de decisiones administrativas fortalecida por estas mejoras.</a:t>
            </a:r>
            <a:endParaRPr/>
          </a:p>
        </p:txBody>
      </p:sp>
      <p:pic>
        <p:nvPicPr>
          <p:cNvPr id="138" name="Google Shape;138;p21"/>
          <p:cNvPicPr preferRelativeResize="0"/>
          <p:nvPr/>
        </p:nvPicPr>
        <p:blipFill rotWithShape="1">
          <a:blip r:embed="rId3">
            <a:alphaModFix/>
          </a:blip>
          <a:srcRect b="0" l="0" r="0" t="0"/>
          <a:stretch/>
        </p:blipFill>
        <p:spPr>
          <a:xfrm>
            <a:off x="7855078" y="7930"/>
            <a:ext cx="1451120" cy="1334363"/>
          </a:xfrm>
          <a:prstGeom prst="rect">
            <a:avLst/>
          </a:prstGeom>
          <a:noFill/>
          <a:ln>
            <a:noFill/>
          </a:ln>
        </p:spPr>
      </p:pic>
      <p:pic>
        <p:nvPicPr>
          <p:cNvPr id="139" name="Google Shape;139;p21"/>
          <p:cNvPicPr preferRelativeResize="0"/>
          <p:nvPr/>
        </p:nvPicPr>
        <p:blipFill rotWithShape="1">
          <a:blip r:embed="rId4">
            <a:alphaModFix/>
          </a:blip>
          <a:srcRect b="0" l="0" r="0" t="0"/>
          <a:stretch/>
        </p:blipFill>
        <p:spPr>
          <a:xfrm>
            <a:off x="9306198" y="214705"/>
            <a:ext cx="1647324" cy="920812"/>
          </a:xfrm>
          <a:prstGeom prst="rect">
            <a:avLst/>
          </a:prstGeom>
          <a:noFill/>
          <a:ln>
            <a:noFill/>
          </a:ln>
        </p:spPr>
      </p:pic>
      <p:pic>
        <p:nvPicPr>
          <p:cNvPr descr="Imagen generada" id="140" name="Google Shape;140;p21"/>
          <p:cNvPicPr preferRelativeResize="0"/>
          <p:nvPr/>
        </p:nvPicPr>
        <p:blipFill rotWithShape="1">
          <a:blip r:embed="rId5">
            <a:alphaModFix/>
          </a:blip>
          <a:srcRect b="2915" l="0" r="0" t="0"/>
          <a:stretch/>
        </p:blipFill>
        <p:spPr>
          <a:xfrm>
            <a:off x="6606792" y="1436045"/>
            <a:ext cx="5576611" cy="54140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 name="Shape 144"/>
        <p:cNvGrpSpPr/>
        <p:nvPr/>
      </p:nvGrpSpPr>
      <p:grpSpPr>
        <a:xfrm>
          <a:off x="0" y="0"/>
          <a:ext cx="0" cy="0"/>
          <a:chOff x="0" y="0"/>
          <a:chExt cx="0" cy="0"/>
        </a:xfrm>
      </p:grpSpPr>
      <p:sp>
        <p:nvSpPr>
          <p:cNvPr id="145" name="Google Shape;145;p22"/>
          <p:cNvSpPr txBox="1"/>
          <p:nvPr/>
        </p:nvSpPr>
        <p:spPr>
          <a:xfrm>
            <a:off x="456236" y="457723"/>
            <a:ext cx="1051560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lang="es-MX" sz="4400">
                <a:solidFill>
                  <a:srgbClr val="0C0C0C"/>
                </a:solidFill>
                <a:latin typeface="Work Sans Medium"/>
                <a:ea typeface="Work Sans Medium"/>
                <a:cs typeface="Work Sans Medium"/>
                <a:sym typeface="Work Sans Medium"/>
              </a:rPr>
              <a:t>Problema</a:t>
            </a:r>
            <a:endParaRPr/>
          </a:p>
        </p:txBody>
      </p:sp>
      <p:sp>
        <p:nvSpPr>
          <p:cNvPr id="146" name="Google Shape;146;p22"/>
          <p:cNvSpPr txBox="1"/>
          <p:nvPr/>
        </p:nvSpPr>
        <p:spPr>
          <a:xfrm>
            <a:off x="456225" y="1463350"/>
            <a:ext cx="5330400" cy="2308800"/>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SzPts val="1100"/>
              <a:buNone/>
            </a:pPr>
            <a:r>
              <a:rPr lang="es-MX" sz="1600">
                <a:solidFill>
                  <a:schemeClr val="dk1"/>
                </a:solidFill>
                <a:latin typeface="Work Sans Light"/>
                <a:ea typeface="Work Sans Light"/>
                <a:cs typeface="Work Sans Light"/>
                <a:sym typeface="Work Sans Light"/>
              </a:rPr>
              <a:t>En CediPlus, las actividades se gestionan de manera verbal: una persona identifica una necesidad y comunica la instrucción a la persona encargada. Esta asume la responsabilidad y ejecuta la tarea con los recursos disponibles. El seguimiento se realiza de forma informal, sin registros escritos, con el solicitante preguntando por avances. Al terminar, el encargado avisa verbalmente, y el solicitante </a:t>
            </a:r>
            <a:r>
              <a:rPr lang="es-MX" sz="1600">
                <a:solidFill>
                  <a:schemeClr val="dk1"/>
                </a:solidFill>
                <a:latin typeface="Work Sans Light"/>
                <a:ea typeface="Work Sans Light"/>
                <a:cs typeface="Work Sans Light"/>
                <a:sym typeface="Work Sans Light"/>
              </a:rPr>
              <a:t>válida</a:t>
            </a:r>
            <a:r>
              <a:rPr lang="es-MX" sz="1600">
                <a:solidFill>
                  <a:schemeClr val="dk1"/>
                </a:solidFill>
                <a:latin typeface="Work Sans Light"/>
                <a:ea typeface="Work Sans Light"/>
                <a:cs typeface="Work Sans Light"/>
                <a:sym typeface="Work Sans Light"/>
              </a:rPr>
              <a:t> y cierra la actividad.</a:t>
            </a:r>
            <a:endParaRPr sz="1600">
              <a:solidFill>
                <a:schemeClr val="dk1"/>
              </a:solidFill>
              <a:latin typeface="Work Sans Light"/>
              <a:ea typeface="Work Sans Light"/>
              <a:cs typeface="Work Sans Light"/>
              <a:sym typeface="Work Sans Light"/>
            </a:endParaRPr>
          </a:p>
        </p:txBody>
      </p:sp>
      <p:sp>
        <p:nvSpPr>
          <p:cNvPr id="147" name="Google Shape;147;p22"/>
          <p:cNvSpPr txBox="1"/>
          <p:nvPr/>
        </p:nvSpPr>
        <p:spPr>
          <a:xfrm>
            <a:off x="6337356" y="3772150"/>
            <a:ext cx="5330400" cy="23088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600">
                <a:solidFill>
                  <a:schemeClr val="dk1"/>
                </a:solidFill>
                <a:latin typeface="Work Sans Light"/>
                <a:ea typeface="Work Sans Light"/>
                <a:cs typeface="Work Sans Light"/>
                <a:sym typeface="Work Sans Light"/>
              </a:rPr>
              <a:t>La gestión administrativa actual tiene deficiencias clave: no hay un sistema centralizado de seguimiento, lo que causa pérdidas de fechas y duplicación de esfuerzos; la comunicación interna es fragmentada y depende de canales informales; la evaluación de desempeño carece de criterios objetivos; los informes manuales provocan retrasos y errores en las decisiones; y la falta de visibilidad dificulta una planificación proactiva.</a:t>
            </a:r>
            <a:endParaRPr/>
          </a:p>
        </p:txBody>
      </p:sp>
      <p:pic>
        <p:nvPicPr>
          <p:cNvPr id="148" name="Google Shape;148;p22"/>
          <p:cNvPicPr preferRelativeResize="0"/>
          <p:nvPr/>
        </p:nvPicPr>
        <p:blipFill rotWithShape="1">
          <a:blip r:embed="rId4">
            <a:alphaModFix/>
          </a:blip>
          <a:srcRect b="0" l="0" r="0" t="0"/>
          <a:stretch/>
        </p:blipFill>
        <p:spPr>
          <a:xfrm>
            <a:off x="7635750" y="0"/>
            <a:ext cx="1793943" cy="1699525"/>
          </a:xfrm>
          <a:prstGeom prst="rect">
            <a:avLst/>
          </a:prstGeom>
          <a:noFill/>
          <a:ln>
            <a:noFill/>
          </a:ln>
        </p:spPr>
      </p:pic>
      <p:pic>
        <p:nvPicPr>
          <p:cNvPr id="149" name="Google Shape;149;p22"/>
          <p:cNvPicPr preferRelativeResize="0"/>
          <p:nvPr/>
        </p:nvPicPr>
        <p:blipFill rotWithShape="1">
          <a:blip r:embed="rId5">
            <a:alphaModFix/>
          </a:blip>
          <a:srcRect b="0" l="0" r="0" t="0"/>
          <a:stretch/>
        </p:blipFill>
        <p:spPr>
          <a:xfrm>
            <a:off x="9241430" y="335615"/>
            <a:ext cx="1647324" cy="9208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p:nvPr/>
        </p:nvSpPr>
        <p:spPr>
          <a:xfrm>
            <a:off x="1314092" y="490615"/>
            <a:ext cx="3527400" cy="3471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23"/>
          <p:cNvSpPr txBox="1"/>
          <p:nvPr/>
        </p:nvSpPr>
        <p:spPr>
          <a:xfrm>
            <a:off x="1039233" y="256198"/>
            <a:ext cx="4077000" cy="6765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General</a:t>
            </a:r>
            <a:endParaRPr/>
          </a:p>
        </p:txBody>
      </p:sp>
      <p:sp>
        <p:nvSpPr>
          <p:cNvPr id="156" name="Google Shape;156;p23"/>
          <p:cNvSpPr txBox="1"/>
          <p:nvPr/>
        </p:nvSpPr>
        <p:spPr>
          <a:xfrm>
            <a:off x="391376" y="1177500"/>
            <a:ext cx="5372700" cy="13236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600">
                <a:solidFill>
                  <a:schemeClr val="dk1"/>
                </a:solidFill>
                <a:latin typeface="Work Sans Light"/>
                <a:ea typeface="Work Sans Light"/>
                <a:cs typeface="Work Sans Light"/>
                <a:sym typeface="Work Sans Light"/>
              </a:rPr>
              <a:t>Desarrollar un sistema de información web llamado Alphamind que sirva como apoyo a la optimización de actividades, seguimiento de tareas, brindando reportes y ofreciendo la integración de un chat a la empresa Cediplus.</a:t>
            </a:r>
            <a:endParaRPr sz="1600">
              <a:solidFill>
                <a:schemeClr val="dk1"/>
              </a:solidFill>
              <a:latin typeface="Work Sans Light"/>
              <a:ea typeface="Work Sans Light"/>
              <a:cs typeface="Work Sans Light"/>
              <a:sym typeface="Work Sans Light"/>
            </a:endParaRPr>
          </a:p>
        </p:txBody>
      </p:sp>
      <p:sp>
        <p:nvSpPr>
          <p:cNvPr id="157" name="Google Shape;157;p23"/>
          <p:cNvSpPr/>
          <p:nvPr/>
        </p:nvSpPr>
        <p:spPr>
          <a:xfrm>
            <a:off x="994678" y="2966594"/>
            <a:ext cx="4166100" cy="3471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23"/>
          <p:cNvSpPr txBox="1"/>
          <p:nvPr/>
        </p:nvSpPr>
        <p:spPr>
          <a:xfrm>
            <a:off x="994678" y="2702173"/>
            <a:ext cx="40770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Específicos</a:t>
            </a:r>
            <a:endParaRPr/>
          </a:p>
        </p:txBody>
      </p:sp>
      <p:sp>
        <p:nvSpPr>
          <p:cNvPr id="159" name="Google Shape;159;p23"/>
          <p:cNvSpPr txBox="1"/>
          <p:nvPr/>
        </p:nvSpPr>
        <p:spPr>
          <a:xfrm>
            <a:off x="440575" y="3579725"/>
            <a:ext cx="5274300" cy="2801400"/>
          </a:xfrm>
          <a:prstGeom prst="rect">
            <a:avLst/>
          </a:prstGeom>
          <a:noFill/>
          <a:ln>
            <a:noFill/>
          </a:ln>
        </p:spPr>
        <p:txBody>
          <a:bodyPr anchorCtr="0" anchor="t" bIns="45700" lIns="91425" spcFirstLastPara="1" rIns="91425" wrap="square" tIns="45700">
            <a:spAutoFit/>
          </a:bodyPr>
          <a:lstStyle/>
          <a:p>
            <a:pPr indent="-330200" lvl="0" marL="457200" marR="0" rtl="0" algn="l">
              <a:spcBef>
                <a:spcPts val="0"/>
              </a:spcBef>
              <a:spcAft>
                <a:spcPts val="0"/>
              </a:spcAft>
              <a:buClr>
                <a:schemeClr val="dk1"/>
              </a:buClr>
              <a:buSzPts val="1600"/>
              <a:buFont typeface="Work Sans Light"/>
              <a:buChar char="●"/>
            </a:pPr>
            <a:r>
              <a:rPr lang="es-MX" sz="1600">
                <a:solidFill>
                  <a:schemeClr val="dk1"/>
                </a:solidFill>
                <a:latin typeface="Work Sans Light"/>
                <a:ea typeface="Work Sans Light"/>
                <a:cs typeface="Work Sans Light"/>
                <a:sym typeface="Work Sans Light"/>
              </a:rPr>
              <a:t>Gestionar la asignación y el seguimiento del progreso de las tareas en Cediplus para mejorar el control y cumplimiento de actividades.</a:t>
            </a:r>
            <a:endParaRPr sz="1600">
              <a:solidFill>
                <a:schemeClr val="dk1"/>
              </a:solidFill>
              <a:latin typeface="Work Sans Light"/>
              <a:ea typeface="Work Sans Light"/>
              <a:cs typeface="Work Sans Light"/>
              <a:sym typeface="Work Sans Light"/>
            </a:endParaRPr>
          </a:p>
          <a:p>
            <a:pPr indent="-330200" lvl="0" marL="457200" marR="0" rtl="0" algn="l">
              <a:spcBef>
                <a:spcPts val="0"/>
              </a:spcBef>
              <a:spcAft>
                <a:spcPts val="0"/>
              </a:spcAft>
              <a:buClr>
                <a:schemeClr val="dk1"/>
              </a:buClr>
              <a:buSzPts val="1600"/>
              <a:buFont typeface="Work Sans Light"/>
              <a:buChar char="●"/>
            </a:pPr>
            <a:r>
              <a:rPr lang="es-MX" sz="1600">
                <a:solidFill>
                  <a:schemeClr val="dk1"/>
                </a:solidFill>
                <a:latin typeface="Work Sans Light"/>
                <a:ea typeface="Work Sans Light"/>
                <a:cs typeface="Work Sans Light"/>
                <a:sym typeface="Work Sans Light"/>
              </a:rPr>
              <a:t>Gestionar el registro y el control de los usuarios en Cediplus, garantizando un acceso seguro y ordenado.</a:t>
            </a:r>
            <a:endParaRPr sz="1600">
              <a:solidFill>
                <a:schemeClr val="dk1"/>
              </a:solidFill>
              <a:latin typeface="Work Sans Light"/>
              <a:ea typeface="Work Sans Light"/>
              <a:cs typeface="Work Sans Light"/>
              <a:sym typeface="Work Sans Light"/>
            </a:endParaRPr>
          </a:p>
          <a:p>
            <a:pPr indent="-330200" lvl="0" marL="457200" marR="0" rtl="0" algn="l">
              <a:spcBef>
                <a:spcPts val="0"/>
              </a:spcBef>
              <a:spcAft>
                <a:spcPts val="0"/>
              </a:spcAft>
              <a:buClr>
                <a:schemeClr val="dk1"/>
              </a:buClr>
              <a:buSzPts val="1600"/>
              <a:buFont typeface="Work Sans Light"/>
              <a:buChar char="●"/>
            </a:pPr>
            <a:r>
              <a:rPr lang="es-MX" sz="1600">
                <a:solidFill>
                  <a:schemeClr val="dk1"/>
                </a:solidFill>
                <a:latin typeface="Work Sans Light"/>
                <a:ea typeface="Work Sans Light"/>
                <a:cs typeface="Work Sans Light"/>
                <a:sym typeface="Work Sans Light"/>
              </a:rPr>
              <a:t>Gestionar la comunicación interna a </a:t>
            </a:r>
            <a:r>
              <a:rPr lang="es-MX" sz="1600">
                <a:solidFill>
                  <a:schemeClr val="dk1"/>
                </a:solidFill>
                <a:latin typeface="Work Sans Light"/>
                <a:ea typeface="Work Sans Light"/>
                <a:cs typeface="Work Sans Light"/>
                <a:sym typeface="Work Sans Light"/>
              </a:rPr>
              <a:t>través</a:t>
            </a:r>
            <a:r>
              <a:rPr lang="es-MX" sz="1600">
                <a:solidFill>
                  <a:schemeClr val="dk1"/>
                </a:solidFill>
                <a:latin typeface="Work Sans Light"/>
                <a:ea typeface="Work Sans Light"/>
                <a:cs typeface="Work Sans Light"/>
                <a:sym typeface="Work Sans Light"/>
              </a:rPr>
              <a:t> de mensajes entre los empleados de Cediplus.</a:t>
            </a:r>
            <a:endParaRPr/>
          </a:p>
          <a:p>
            <a:pPr indent="-330200" lvl="0" marL="457200" marR="0" rtl="0" algn="l">
              <a:spcBef>
                <a:spcPts val="0"/>
              </a:spcBef>
              <a:spcAft>
                <a:spcPts val="0"/>
              </a:spcAft>
              <a:buClr>
                <a:schemeClr val="dk1"/>
              </a:buClr>
              <a:buSzPts val="1600"/>
              <a:buFont typeface="Work Sans Light"/>
              <a:buChar char="●"/>
            </a:pPr>
            <a:r>
              <a:rPr lang="es-MX" sz="1600">
                <a:solidFill>
                  <a:schemeClr val="dk1"/>
                </a:solidFill>
                <a:latin typeface="Work Sans Light"/>
                <a:ea typeface="Work Sans Light"/>
                <a:cs typeface="Work Sans Light"/>
                <a:sym typeface="Work Sans Light"/>
              </a:rPr>
              <a:t>Gestionar los informes de rendimiento del personal de Cediplus, basados en métricas de cumplimiento y eficiencia. </a:t>
            </a:r>
            <a:endParaRPr/>
          </a:p>
        </p:txBody>
      </p:sp>
      <p:pic>
        <p:nvPicPr>
          <p:cNvPr descr="Un grupo de personas frente a una televisión encendida&#10;&#10;El contenido generado por IA puede ser incorrecto." id="160" name="Google Shape;160;p23"/>
          <p:cNvPicPr preferRelativeResize="0"/>
          <p:nvPr/>
        </p:nvPicPr>
        <p:blipFill rotWithShape="1">
          <a:blip r:embed="rId3">
            <a:alphaModFix/>
          </a:blip>
          <a:srcRect b="0" l="23977" r="5605" t="0"/>
          <a:stretch/>
        </p:blipFill>
        <p:spPr>
          <a:xfrm>
            <a:off x="6033600" y="0"/>
            <a:ext cx="615840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Justificación</a:t>
            </a:r>
            <a:endParaRPr>
              <a:solidFill>
                <a:schemeClr val="lt1"/>
              </a:solidFill>
              <a:latin typeface="Work Sans Medium"/>
              <a:ea typeface="Work Sans Medium"/>
              <a:cs typeface="Work Sans Medium"/>
              <a:sym typeface="Work Sans Medium"/>
            </a:endParaRPr>
          </a:p>
        </p:txBody>
      </p:sp>
      <p:sp>
        <p:nvSpPr>
          <p:cNvPr id="166" name="Google Shape;166;p24"/>
          <p:cNvSpPr txBox="1"/>
          <p:nvPr/>
        </p:nvSpPr>
        <p:spPr>
          <a:xfrm>
            <a:off x="692725" y="2187475"/>
            <a:ext cx="5406900" cy="32940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600">
                <a:solidFill>
                  <a:schemeClr val="dk1"/>
                </a:solidFill>
                <a:latin typeface="Work Sans Light"/>
                <a:ea typeface="Work Sans Light"/>
                <a:cs typeface="Work Sans Light"/>
                <a:sym typeface="Work Sans Light"/>
              </a:rPr>
              <a:t>El sistema web Alphamind surge como una solución para fortalecer la productividad y la organización en el área administrativa de Cediplus, reconocida por su calidad e innovación en el sector automotriz. Su implementación permitirá asignar tareas con plazos definidos, facilitar la comunicación interna y realizar un seguimiento constante del desempeño del personal. De esta manera, la plataforma contribuirá a mejorar la coordinación entre áreas, optimizar la gestión de actividades y reforzar el control interno en las empresas de revisión técnico-mecánica, representando además un importante avance tecnológico para el sector.</a:t>
            </a:r>
            <a:endParaRPr sz="1600">
              <a:solidFill>
                <a:schemeClr val="dk1"/>
              </a:solidFill>
              <a:latin typeface="Work Sans Light"/>
              <a:ea typeface="Work Sans Light"/>
              <a:cs typeface="Work Sans Light"/>
              <a:sym typeface="Work Sans Light"/>
            </a:endParaRPr>
          </a:p>
        </p:txBody>
      </p:sp>
      <p:pic>
        <p:nvPicPr>
          <p:cNvPr id="167" name="Google Shape;167;p24"/>
          <p:cNvPicPr preferRelativeResize="0"/>
          <p:nvPr/>
        </p:nvPicPr>
        <p:blipFill rotWithShape="1">
          <a:blip r:embed="rId3">
            <a:alphaModFix/>
          </a:blip>
          <a:srcRect b="0" l="0" r="0" t="0"/>
          <a:stretch/>
        </p:blipFill>
        <p:spPr>
          <a:xfrm>
            <a:off x="8019201" y="81553"/>
            <a:ext cx="1451120" cy="1334363"/>
          </a:xfrm>
          <a:prstGeom prst="rect">
            <a:avLst/>
          </a:prstGeom>
          <a:noFill/>
          <a:ln>
            <a:noFill/>
          </a:ln>
        </p:spPr>
      </p:pic>
      <p:pic>
        <p:nvPicPr>
          <p:cNvPr id="168" name="Google Shape;168;p24"/>
          <p:cNvPicPr preferRelativeResize="0"/>
          <p:nvPr/>
        </p:nvPicPr>
        <p:blipFill rotWithShape="1">
          <a:blip r:embed="rId4">
            <a:alphaModFix/>
          </a:blip>
          <a:srcRect b="0" l="0" r="0" t="0"/>
          <a:stretch/>
        </p:blipFill>
        <p:spPr>
          <a:xfrm>
            <a:off x="9306198" y="312856"/>
            <a:ext cx="1647324" cy="920812"/>
          </a:xfrm>
          <a:prstGeom prst="rect">
            <a:avLst/>
          </a:prstGeom>
          <a:noFill/>
          <a:ln>
            <a:noFill/>
          </a:ln>
        </p:spPr>
      </p:pic>
      <p:pic>
        <p:nvPicPr>
          <p:cNvPr descr="Imagen generada" id="169" name="Google Shape;169;p24"/>
          <p:cNvPicPr preferRelativeResize="0"/>
          <p:nvPr/>
        </p:nvPicPr>
        <p:blipFill rotWithShape="1">
          <a:blip r:embed="rId5">
            <a:alphaModFix/>
          </a:blip>
          <a:srcRect b="0" l="0" r="0" t="0"/>
          <a:stretch/>
        </p:blipFill>
        <p:spPr>
          <a:xfrm>
            <a:off x="6785113" y="1464972"/>
            <a:ext cx="5406887" cy="54068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solidFill>
                <a:schemeClr val="lt1"/>
              </a:solidFill>
              <a:latin typeface="Work Sans Medium"/>
              <a:ea typeface="Work Sans Medium"/>
              <a:cs typeface="Work Sans Medium"/>
              <a:sym typeface="Work Sans Medium"/>
            </a:endParaRPr>
          </a:p>
        </p:txBody>
      </p:sp>
      <p:sp>
        <p:nvSpPr>
          <p:cNvPr id="175" name="Google Shape;175;p25"/>
          <p:cNvSpPr txBox="1"/>
          <p:nvPr/>
        </p:nvSpPr>
        <p:spPr>
          <a:xfrm>
            <a:off x="973015" y="2274277"/>
            <a:ext cx="10515600" cy="2801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600">
                <a:solidFill>
                  <a:schemeClr val="dk1"/>
                </a:solidFill>
                <a:latin typeface="Work Sans Light"/>
                <a:ea typeface="Work Sans Light"/>
                <a:cs typeface="Work Sans Light"/>
                <a:sym typeface="Work Sans Light"/>
              </a:rPr>
              <a:t>El sistema Alphamind permitirá asignar tareas, realizar seguimiento del progreso,  gestionar la comunicación entre empleados. Los usuarios podrán visualizar, actualizar y categorizar sus tareas. El administrador podrá controlar accesos, roles y monitorear el rendimiento del equipo.</a:t>
            </a:r>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MX" sz="1600">
                <a:solidFill>
                  <a:schemeClr val="dk1"/>
                </a:solidFill>
                <a:latin typeface="Work Sans Light"/>
                <a:ea typeface="Work Sans Light"/>
                <a:cs typeface="Work Sans Light"/>
                <a:sym typeface="Work Sans Light"/>
              </a:rPr>
              <a:t>El sistema no incluirá funciones de facturación, gestión contable, ni control de inventarios, ya que su enfoque es exclusivamente la administración de tareas internas.</a:t>
            </a:r>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t/>
            </a:r>
            <a:endParaRPr sz="1600">
              <a:solidFill>
                <a:schemeClr val="dk1"/>
              </a:solidFill>
              <a:latin typeface="Work Sans Light"/>
              <a:ea typeface="Work Sans Light"/>
              <a:cs typeface="Work Sans Light"/>
              <a:sym typeface="Work Sans Light"/>
            </a:endParaRPr>
          </a:p>
          <a:p>
            <a:pPr indent="0" lvl="0" marL="0" marR="0" rtl="0" algn="l">
              <a:spcBef>
                <a:spcPts val="0"/>
              </a:spcBef>
              <a:spcAft>
                <a:spcPts val="0"/>
              </a:spcAft>
              <a:buNone/>
            </a:pPr>
            <a:r>
              <a:rPr lang="es-MX" sz="1600">
                <a:solidFill>
                  <a:schemeClr val="dk1"/>
                </a:solidFill>
                <a:latin typeface="Work Sans Light"/>
                <a:ea typeface="Work Sans Light"/>
                <a:cs typeface="Work Sans Light"/>
                <a:sym typeface="Work Sans Light"/>
              </a:rPr>
              <a:t>Se desarrollará bajo una arquitectura cliente-servidor, utilizando Node.js (24.4.1) como framework backend, MySQL (8.4.6) como gestor de base de datos y HTML, CSS, </a:t>
            </a:r>
            <a:r>
              <a:rPr lang="es-MX" sz="1600">
                <a:solidFill>
                  <a:schemeClr val="dk1"/>
                </a:solidFill>
                <a:latin typeface="Work Sans Light"/>
                <a:ea typeface="Work Sans Light"/>
                <a:cs typeface="Work Sans Light"/>
                <a:sym typeface="Work Sans Light"/>
              </a:rPr>
              <a:t>Bootstrap (5.3.8) y React</a:t>
            </a:r>
            <a:r>
              <a:rPr lang="es-MX" sz="1600">
                <a:solidFill>
                  <a:schemeClr val="dk1"/>
                </a:solidFill>
                <a:latin typeface="Work Sans Light"/>
                <a:ea typeface="Work Sans Light"/>
                <a:cs typeface="Work Sans Light"/>
                <a:sym typeface="Work Sans Light"/>
              </a:rPr>
              <a:t> (19.1.1) para el diseño del frontend. También se implementarán sesiones y conexión a servidor local.</a:t>
            </a:r>
            <a:endParaRPr/>
          </a:p>
        </p:txBody>
      </p:sp>
      <p:pic>
        <p:nvPicPr>
          <p:cNvPr id="176" name="Google Shape;176;p25"/>
          <p:cNvPicPr preferRelativeResize="0"/>
          <p:nvPr/>
        </p:nvPicPr>
        <p:blipFill rotWithShape="1">
          <a:blip r:embed="rId3">
            <a:alphaModFix/>
          </a:blip>
          <a:srcRect b="0" l="0" r="0" t="0"/>
          <a:stretch/>
        </p:blipFill>
        <p:spPr>
          <a:xfrm>
            <a:off x="8019201" y="7929"/>
            <a:ext cx="1451120" cy="1334363"/>
          </a:xfrm>
          <a:prstGeom prst="rect">
            <a:avLst/>
          </a:prstGeom>
          <a:noFill/>
          <a:ln>
            <a:noFill/>
          </a:ln>
        </p:spPr>
      </p:pic>
      <p:pic>
        <p:nvPicPr>
          <p:cNvPr id="177" name="Google Shape;177;p25"/>
          <p:cNvPicPr preferRelativeResize="0"/>
          <p:nvPr/>
        </p:nvPicPr>
        <p:blipFill rotWithShape="1">
          <a:blip r:embed="rId4">
            <a:alphaModFix/>
          </a:blip>
          <a:srcRect b="0" l="0" r="0" t="0"/>
          <a:stretch/>
        </p:blipFill>
        <p:spPr>
          <a:xfrm>
            <a:off x="9306198" y="214705"/>
            <a:ext cx="1647324" cy="9208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Delimitación</a:t>
            </a:r>
            <a:endParaRPr>
              <a:solidFill>
                <a:schemeClr val="lt1"/>
              </a:solidFill>
              <a:latin typeface="Work Sans Medium"/>
              <a:ea typeface="Work Sans Medium"/>
              <a:cs typeface="Work Sans Medium"/>
              <a:sym typeface="Work Sans Medium"/>
            </a:endParaRPr>
          </a:p>
        </p:txBody>
      </p:sp>
      <p:pic>
        <p:nvPicPr>
          <p:cNvPr id="183" name="Google Shape;183;p26"/>
          <p:cNvPicPr preferRelativeResize="0"/>
          <p:nvPr/>
        </p:nvPicPr>
        <p:blipFill rotWithShape="1">
          <a:blip r:embed="rId3">
            <a:alphaModFix/>
          </a:blip>
          <a:srcRect b="0" l="0" r="0" t="0"/>
          <a:stretch/>
        </p:blipFill>
        <p:spPr>
          <a:xfrm>
            <a:off x="8112986" y="101681"/>
            <a:ext cx="1451120" cy="1334363"/>
          </a:xfrm>
          <a:prstGeom prst="rect">
            <a:avLst/>
          </a:prstGeom>
          <a:noFill/>
          <a:ln>
            <a:noFill/>
          </a:ln>
        </p:spPr>
      </p:pic>
      <p:pic>
        <p:nvPicPr>
          <p:cNvPr id="184" name="Google Shape;184;p26"/>
          <p:cNvPicPr preferRelativeResize="0"/>
          <p:nvPr/>
        </p:nvPicPr>
        <p:blipFill rotWithShape="1">
          <a:blip r:embed="rId4">
            <a:alphaModFix/>
          </a:blip>
          <a:srcRect b="0" l="0" r="0" t="0"/>
          <a:stretch/>
        </p:blipFill>
        <p:spPr>
          <a:xfrm>
            <a:off x="9324512" y="308456"/>
            <a:ext cx="1647324" cy="920812"/>
          </a:xfrm>
          <a:prstGeom prst="rect">
            <a:avLst/>
          </a:prstGeom>
          <a:noFill/>
          <a:ln>
            <a:noFill/>
          </a:ln>
        </p:spPr>
      </p:pic>
      <p:pic>
        <p:nvPicPr>
          <p:cNvPr id="185" name="Google Shape;185;p26"/>
          <p:cNvPicPr preferRelativeResize="0"/>
          <p:nvPr/>
        </p:nvPicPr>
        <p:blipFill>
          <a:blip r:embed="rId5">
            <a:alphaModFix/>
          </a:blip>
          <a:stretch>
            <a:fillRect/>
          </a:stretch>
        </p:blipFill>
        <p:spPr>
          <a:xfrm>
            <a:off x="221375" y="2268344"/>
            <a:ext cx="11887198" cy="336814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192" name="Google Shape;192;p27"/>
          <p:cNvSpPr txBox="1"/>
          <p:nvPr/>
        </p:nvSpPr>
        <p:spPr>
          <a:xfrm>
            <a:off x="952878" y="2069421"/>
            <a:ext cx="2800357" cy="1600438"/>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Contextualización</a:t>
            </a:r>
            <a:endParaRPr/>
          </a:p>
          <a:p>
            <a:pPr indent="-171450" lvl="0" marL="1714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3"/>
              </a:rPr>
              <a:t>Mapa de procesos</a:t>
            </a:r>
            <a:endParaRPr sz="1400">
              <a:solidFill>
                <a:schemeClr val="dk1"/>
              </a:solidFill>
              <a:latin typeface="Work Sans Light"/>
              <a:ea typeface="Work Sans Light"/>
              <a:cs typeface="Work Sans Light"/>
              <a:sym typeface="Work Sans Light"/>
            </a:endParaRPr>
          </a:p>
          <a:p>
            <a:pPr indent="-171450" lvl="0" marL="1714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4"/>
              </a:rPr>
              <a:t>Recolección de Información</a:t>
            </a:r>
            <a:endParaRPr sz="1400">
              <a:solidFill>
                <a:schemeClr val="dk1"/>
              </a:solidFill>
              <a:latin typeface="Work Sans Light"/>
              <a:ea typeface="Work Sans Light"/>
              <a:cs typeface="Work Sans Light"/>
              <a:sym typeface="Work Sans Light"/>
            </a:endParaRPr>
          </a:p>
          <a:p>
            <a:pPr indent="-171450" lvl="0" marL="1714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5"/>
              </a:rPr>
              <a:t>Requerimientos IEEE-830</a:t>
            </a:r>
            <a:endParaRPr sz="1400">
              <a:solidFill>
                <a:schemeClr val="dk1"/>
              </a:solidFill>
              <a:latin typeface="Work Sans Light"/>
              <a:ea typeface="Work Sans Light"/>
              <a:cs typeface="Work Sans Light"/>
              <a:sym typeface="Work Sans Light"/>
            </a:endParaRPr>
          </a:p>
          <a:p>
            <a:pPr indent="-171450" lvl="0" marL="1714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6"/>
              </a:rPr>
              <a:t>Casos de Uso </a:t>
            </a:r>
            <a:endParaRPr sz="1400">
              <a:solidFill>
                <a:schemeClr val="dk1"/>
              </a:solidFill>
              <a:latin typeface="Work Sans Light"/>
              <a:ea typeface="Work Sans Light"/>
              <a:cs typeface="Work Sans Light"/>
              <a:sym typeface="Work Sans Light"/>
            </a:endParaRPr>
          </a:p>
          <a:p>
            <a:pPr indent="-171450" lvl="0" marL="1714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7"/>
              </a:rPr>
              <a:t>Mockup</a:t>
            </a:r>
            <a:endParaRPr sz="1400">
              <a:solidFill>
                <a:schemeClr val="dk1"/>
              </a:solidFill>
              <a:latin typeface="Work Sans Light"/>
              <a:ea typeface="Work Sans Light"/>
              <a:cs typeface="Work Sans Light"/>
              <a:sym typeface="Work Sans Light"/>
            </a:endParaRPr>
          </a:p>
          <a:p>
            <a:pPr indent="-171450" lvl="0" marL="1714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8"/>
              </a:rPr>
              <a:t>Ficha Técnica</a:t>
            </a:r>
            <a:endParaRPr sz="1400">
              <a:solidFill>
                <a:schemeClr val="dk1"/>
              </a:solidFill>
              <a:latin typeface="Work Sans Light"/>
              <a:ea typeface="Work Sans Light"/>
              <a:cs typeface="Work Sans Light"/>
              <a:sym typeface="Work Sans Light"/>
            </a:endParaRPr>
          </a:p>
        </p:txBody>
      </p:sp>
      <p:grpSp>
        <p:nvGrpSpPr>
          <p:cNvPr id="193" name="Google Shape;193;p27"/>
          <p:cNvGrpSpPr/>
          <p:nvPr/>
        </p:nvGrpSpPr>
        <p:grpSpPr>
          <a:xfrm>
            <a:off x="698531" y="1685065"/>
            <a:ext cx="2368083" cy="347863"/>
            <a:chOff x="668953" y="1494678"/>
            <a:chExt cx="3239167" cy="347863"/>
          </a:xfrm>
        </p:grpSpPr>
        <p:sp>
          <p:nvSpPr>
            <p:cNvPr id="194" name="Google Shape;194;p2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2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MX" sz="1800">
                  <a:solidFill>
                    <a:srgbClr val="38AA00"/>
                  </a:solidFill>
                  <a:latin typeface="Work Sans Light"/>
                  <a:ea typeface="Work Sans Light"/>
                  <a:cs typeface="Work Sans Light"/>
                  <a:sym typeface="Work Sans Light"/>
                </a:rPr>
                <a:t>Segundo Trimestre</a:t>
              </a:r>
              <a:endParaRPr/>
            </a:p>
          </p:txBody>
        </p:sp>
      </p:grpSp>
      <p:sp>
        <p:nvSpPr>
          <p:cNvPr id="196" name="Google Shape;196;p27"/>
          <p:cNvSpPr txBox="1"/>
          <p:nvPr/>
        </p:nvSpPr>
        <p:spPr>
          <a:xfrm>
            <a:off x="1086190" y="5012202"/>
            <a:ext cx="2933926" cy="138499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9"/>
              </a:rPr>
              <a:t>Modelo Relacional</a:t>
            </a:r>
            <a:endParaRPr sz="1400">
              <a:solidFill>
                <a:schemeClr val="dk1"/>
              </a:solidFill>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10"/>
              </a:rPr>
              <a:t>Normalización </a:t>
            </a:r>
            <a:endParaRPr sz="1400">
              <a:solidFill>
                <a:schemeClr val="dk1"/>
              </a:solidFill>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11"/>
              </a:rPr>
              <a:t>Diccionario de Datos</a:t>
            </a:r>
            <a:endParaRPr sz="1400">
              <a:solidFill>
                <a:schemeClr val="dk1"/>
              </a:solidFill>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12"/>
              </a:rPr>
              <a:t>Diagrama de Clases</a:t>
            </a:r>
            <a:endParaRPr sz="1400">
              <a:solidFill>
                <a:schemeClr val="dk1"/>
              </a:solidFill>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13"/>
              </a:rPr>
              <a:t>Diagrama de Distribución </a:t>
            </a:r>
            <a:endParaRPr sz="1400">
              <a:solidFill>
                <a:schemeClr val="dk1"/>
              </a:solidFill>
              <a:latin typeface="Work Sans Light"/>
              <a:ea typeface="Work Sans Light"/>
              <a:cs typeface="Work Sans Light"/>
              <a:sym typeface="Work Sans Light"/>
            </a:endParaRPr>
          </a:p>
          <a:p>
            <a:pPr indent="-285750" lvl="0" marL="2857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14"/>
              </a:rPr>
              <a:t>Prototipo </a:t>
            </a:r>
            <a:endParaRPr sz="1400">
              <a:solidFill>
                <a:schemeClr val="dk1"/>
              </a:solidFill>
              <a:latin typeface="Work Sans Light"/>
              <a:ea typeface="Work Sans Light"/>
              <a:cs typeface="Work Sans Light"/>
              <a:sym typeface="Work Sans Light"/>
            </a:endParaRPr>
          </a:p>
        </p:txBody>
      </p:sp>
      <p:grpSp>
        <p:nvGrpSpPr>
          <p:cNvPr id="197" name="Google Shape;197;p27"/>
          <p:cNvGrpSpPr/>
          <p:nvPr/>
        </p:nvGrpSpPr>
        <p:grpSpPr>
          <a:xfrm>
            <a:off x="780949" y="4664339"/>
            <a:ext cx="3239167" cy="347863"/>
            <a:chOff x="668953" y="1494678"/>
            <a:chExt cx="3239167" cy="347863"/>
          </a:xfrm>
        </p:grpSpPr>
        <p:sp>
          <p:nvSpPr>
            <p:cNvPr id="198" name="Google Shape;198;p2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2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MX" sz="1800">
                  <a:solidFill>
                    <a:srgbClr val="38AA00"/>
                  </a:solidFill>
                  <a:latin typeface="Work Sans Light"/>
                  <a:ea typeface="Work Sans Light"/>
                  <a:cs typeface="Work Sans Light"/>
                  <a:sym typeface="Work Sans Light"/>
                </a:rPr>
                <a:t>Tercer Trimestre</a:t>
              </a:r>
              <a:endParaRPr/>
            </a:p>
          </p:txBody>
        </p:sp>
      </p:grpSp>
      <p:grpSp>
        <p:nvGrpSpPr>
          <p:cNvPr id="200" name="Google Shape;200;p27"/>
          <p:cNvGrpSpPr/>
          <p:nvPr/>
        </p:nvGrpSpPr>
        <p:grpSpPr>
          <a:xfrm>
            <a:off x="4700657" y="2685396"/>
            <a:ext cx="2592995" cy="347863"/>
            <a:chOff x="668953" y="1494678"/>
            <a:chExt cx="3239167" cy="347863"/>
          </a:xfrm>
        </p:grpSpPr>
        <p:sp>
          <p:nvSpPr>
            <p:cNvPr id="201" name="Google Shape;201;p2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2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MX" sz="1800">
                  <a:solidFill>
                    <a:srgbClr val="38AA00"/>
                  </a:solidFill>
                  <a:latin typeface="Work Sans Light"/>
                  <a:ea typeface="Work Sans Light"/>
                  <a:cs typeface="Work Sans Light"/>
                  <a:sym typeface="Work Sans Light"/>
                </a:rPr>
                <a:t>Cuarto Trimestre</a:t>
              </a:r>
              <a:endParaRPr/>
            </a:p>
          </p:txBody>
        </p:sp>
      </p:grpSp>
      <p:sp>
        <p:nvSpPr>
          <p:cNvPr id="203" name="Google Shape;203;p27"/>
          <p:cNvSpPr txBox="1"/>
          <p:nvPr/>
        </p:nvSpPr>
        <p:spPr>
          <a:xfrm>
            <a:off x="4813393" y="3129645"/>
            <a:ext cx="3061920" cy="738664"/>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15"/>
              </a:rPr>
              <a:t>Construcción de Base de Datos</a:t>
            </a:r>
            <a:endParaRPr sz="1400">
              <a:solidFill>
                <a:schemeClr val="dk1"/>
              </a:solidFill>
              <a:latin typeface="Work Sans Light"/>
              <a:ea typeface="Work Sans Light"/>
              <a:cs typeface="Work Sans Light"/>
              <a:sym typeface="Work Sans Light"/>
            </a:endParaRPr>
          </a:p>
          <a:p>
            <a:pPr indent="-171450" lvl="0" marL="1714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16"/>
              </a:rPr>
              <a:t>Uso de Base de Datos </a:t>
            </a:r>
            <a:endParaRPr sz="1400">
              <a:solidFill>
                <a:schemeClr val="dk1"/>
              </a:solidFill>
              <a:latin typeface="Work Sans Light"/>
              <a:ea typeface="Work Sans Light"/>
              <a:cs typeface="Work Sans Light"/>
              <a:sym typeface="Work Sans Light"/>
            </a:endParaRPr>
          </a:p>
          <a:p>
            <a:pPr indent="-171450" lvl="0" marL="171450" marR="0" rtl="0" algn="l">
              <a:spcBef>
                <a:spcPts val="0"/>
              </a:spcBef>
              <a:spcAft>
                <a:spcPts val="0"/>
              </a:spcAft>
              <a:buClr>
                <a:schemeClr val="dk1"/>
              </a:buClr>
              <a:buSzPts val="1400"/>
              <a:buFont typeface="Arial"/>
              <a:buChar char="•"/>
            </a:pPr>
            <a:r>
              <a:rPr lang="es-MX" sz="1400" u="sng">
                <a:solidFill>
                  <a:schemeClr val="hlink"/>
                </a:solidFill>
                <a:latin typeface="Work Sans Light"/>
                <a:ea typeface="Work Sans Light"/>
                <a:cs typeface="Work Sans Light"/>
                <a:sym typeface="Work Sans Light"/>
                <a:hlinkClick r:id="rId17"/>
              </a:rPr>
              <a:t>FrontEnd - Encriptación </a:t>
            </a:r>
            <a:endParaRPr sz="1400">
              <a:solidFill>
                <a:schemeClr val="dk1"/>
              </a:solidFill>
              <a:latin typeface="Work Sans Light"/>
              <a:ea typeface="Work Sans Light"/>
              <a:cs typeface="Work Sans Light"/>
              <a:sym typeface="Work Sans Light"/>
            </a:endParaRPr>
          </a:p>
        </p:txBody>
      </p:sp>
      <p:grpSp>
        <p:nvGrpSpPr>
          <p:cNvPr id="204" name="Google Shape;204;p27"/>
          <p:cNvGrpSpPr/>
          <p:nvPr/>
        </p:nvGrpSpPr>
        <p:grpSpPr>
          <a:xfrm>
            <a:off x="4813393" y="4378997"/>
            <a:ext cx="2180358" cy="347863"/>
            <a:chOff x="668953" y="1494678"/>
            <a:chExt cx="3239167" cy="347863"/>
          </a:xfrm>
        </p:grpSpPr>
        <p:sp>
          <p:nvSpPr>
            <p:cNvPr id="205" name="Google Shape;205;p2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2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MX" sz="1800">
                  <a:solidFill>
                    <a:srgbClr val="38AA00"/>
                  </a:solidFill>
                  <a:latin typeface="Work Sans Light"/>
                  <a:ea typeface="Work Sans Light"/>
                  <a:cs typeface="Work Sans Light"/>
                  <a:sym typeface="Work Sans Light"/>
                </a:rPr>
                <a:t>Quinto Trimestre</a:t>
              </a:r>
              <a:endParaRPr/>
            </a:p>
          </p:txBody>
        </p:sp>
      </p:grpSp>
      <p:sp>
        <p:nvSpPr>
          <p:cNvPr id="207" name="Google Shape;207;p27"/>
          <p:cNvSpPr txBox="1"/>
          <p:nvPr/>
        </p:nvSpPr>
        <p:spPr>
          <a:xfrm>
            <a:off x="5064897" y="4874187"/>
            <a:ext cx="2077940" cy="30777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FrontEnd - API REST </a:t>
            </a:r>
            <a:endParaRPr/>
          </a:p>
        </p:txBody>
      </p:sp>
      <p:grpSp>
        <p:nvGrpSpPr>
          <p:cNvPr id="208" name="Google Shape;208;p27"/>
          <p:cNvGrpSpPr/>
          <p:nvPr/>
        </p:nvGrpSpPr>
        <p:grpSpPr>
          <a:xfrm>
            <a:off x="8909107" y="1895489"/>
            <a:ext cx="1955468" cy="347863"/>
            <a:chOff x="668953" y="1494678"/>
            <a:chExt cx="3239167" cy="347863"/>
          </a:xfrm>
        </p:grpSpPr>
        <p:sp>
          <p:nvSpPr>
            <p:cNvPr id="209" name="Google Shape;209;p2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27"/>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MX" sz="1800">
                  <a:solidFill>
                    <a:srgbClr val="38AA00"/>
                  </a:solidFill>
                  <a:latin typeface="Work Sans Light"/>
                  <a:ea typeface="Work Sans Light"/>
                  <a:cs typeface="Work Sans Light"/>
                  <a:sym typeface="Work Sans Light"/>
                </a:rPr>
                <a:t>Sexto Trimestre</a:t>
              </a:r>
              <a:endParaRPr/>
            </a:p>
          </p:txBody>
        </p:sp>
      </p:grpSp>
      <p:sp>
        <p:nvSpPr>
          <p:cNvPr id="211" name="Google Shape;211;p27"/>
          <p:cNvSpPr txBox="1"/>
          <p:nvPr/>
        </p:nvSpPr>
        <p:spPr>
          <a:xfrm>
            <a:off x="9137609" y="2393009"/>
            <a:ext cx="1671706" cy="738664"/>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Codificación </a:t>
            </a:r>
            <a:endParaRPr/>
          </a:p>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App Móvil </a:t>
            </a:r>
            <a:endParaRPr/>
          </a:p>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API REST</a:t>
            </a:r>
            <a:endParaRPr/>
          </a:p>
        </p:txBody>
      </p:sp>
      <p:pic>
        <p:nvPicPr>
          <p:cNvPr id="212" name="Google Shape;212;p27"/>
          <p:cNvPicPr preferRelativeResize="0"/>
          <p:nvPr/>
        </p:nvPicPr>
        <p:blipFill rotWithShape="1">
          <a:blip r:embed="rId18">
            <a:alphaModFix/>
          </a:blip>
          <a:srcRect b="0" l="0" r="0" t="0"/>
          <a:stretch/>
        </p:blipFill>
        <p:spPr>
          <a:xfrm>
            <a:off x="7983912" y="48751"/>
            <a:ext cx="1451120" cy="1334363"/>
          </a:xfrm>
          <a:prstGeom prst="rect">
            <a:avLst/>
          </a:prstGeom>
          <a:noFill/>
          <a:ln>
            <a:noFill/>
          </a:ln>
        </p:spPr>
      </p:pic>
      <p:pic>
        <p:nvPicPr>
          <p:cNvPr id="213" name="Google Shape;213;p27"/>
          <p:cNvPicPr preferRelativeResize="0"/>
          <p:nvPr/>
        </p:nvPicPr>
        <p:blipFill rotWithShape="1">
          <a:blip r:embed="rId19">
            <a:alphaModFix/>
          </a:blip>
          <a:srcRect b="0" l="0" r="0" t="0"/>
          <a:stretch/>
        </p:blipFill>
        <p:spPr>
          <a:xfrm>
            <a:off x="9269252" y="366270"/>
            <a:ext cx="1647324" cy="920812"/>
          </a:xfrm>
          <a:prstGeom prst="rect">
            <a:avLst/>
          </a:prstGeom>
          <a:noFill/>
          <a:ln>
            <a:noFill/>
          </a:ln>
        </p:spPr>
      </p:pic>
      <p:grpSp>
        <p:nvGrpSpPr>
          <p:cNvPr id="214" name="Google Shape;214;p27"/>
          <p:cNvGrpSpPr/>
          <p:nvPr/>
        </p:nvGrpSpPr>
        <p:grpSpPr>
          <a:xfrm>
            <a:off x="8909101" y="4726844"/>
            <a:ext cx="2278002" cy="347863"/>
            <a:chOff x="668952" y="1494678"/>
            <a:chExt cx="2898590" cy="347863"/>
          </a:xfrm>
        </p:grpSpPr>
        <p:sp>
          <p:nvSpPr>
            <p:cNvPr id="215" name="Google Shape;215;p27"/>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 name="Google Shape;216;p27"/>
            <p:cNvSpPr txBox="1"/>
            <p:nvPr/>
          </p:nvSpPr>
          <p:spPr>
            <a:xfrm>
              <a:off x="668952" y="1494678"/>
              <a:ext cx="2898590"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1800"/>
                <a:buFont typeface="Work Sans Light"/>
                <a:buNone/>
              </a:pPr>
              <a:r>
                <a:rPr b="1" lang="es-MX" sz="1800">
                  <a:solidFill>
                    <a:srgbClr val="38AA00"/>
                  </a:solidFill>
                  <a:latin typeface="Work Sans Light"/>
                  <a:ea typeface="Work Sans Light"/>
                  <a:cs typeface="Work Sans Light"/>
                  <a:sym typeface="Work Sans Light"/>
                </a:rPr>
                <a:t>Séptimo Trimestre</a:t>
              </a:r>
              <a:endParaRPr/>
            </a:p>
          </p:txBody>
        </p:sp>
      </p:grpSp>
      <p:sp>
        <p:nvSpPr>
          <p:cNvPr id="217" name="Google Shape;217;p27"/>
          <p:cNvSpPr txBox="1"/>
          <p:nvPr/>
        </p:nvSpPr>
        <p:spPr>
          <a:xfrm>
            <a:off x="9137611" y="5224364"/>
            <a:ext cx="2800500" cy="1169700"/>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Pruebas Técnicas</a:t>
            </a:r>
            <a:endParaRPr/>
          </a:p>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Plan de Implementación</a:t>
            </a:r>
            <a:endParaRPr/>
          </a:p>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Manuales </a:t>
            </a:r>
            <a:endParaRPr/>
          </a:p>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Modelo de Calidad </a:t>
            </a:r>
            <a:endParaRPr/>
          </a:p>
          <a:p>
            <a:pPr indent="-171450" lvl="0" marL="171450" marR="0" rtl="0" algn="l">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Diagrama de Despliegue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descr="Imagen que contiene Interfaz de usuario gráfica&#10;&#10;Descripción generada automáticamente" id="222" name="Google Shape;222;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